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318" r:id="rId3"/>
    <p:sldId id="319" r:id="rId4"/>
    <p:sldId id="282" r:id="rId5"/>
    <p:sldId id="280" r:id="rId6"/>
    <p:sldId id="286" r:id="rId7"/>
    <p:sldId id="258" r:id="rId8"/>
    <p:sldId id="289" r:id="rId9"/>
    <p:sldId id="259" r:id="rId10"/>
    <p:sldId id="281" r:id="rId11"/>
    <p:sldId id="266" r:id="rId12"/>
    <p:sldId id="307" r:id="rId13"/>
    <p:sldId id="295" r:id="rId14"/>
    <p:sldId id="312" r:id="rId15"/>
    <p:sldId id="306" r:id="rId16"/>
    <p:sldId id="302" r:id="rId17"/>
    <p:sldId id="315" r:id="rId18"/>
    <p:sldId id="303" r:id="rId19"/>
    <p:sldId id="308" r:id="rId20"/>
    <p:sldId id="309" r:id="rId21"/>
    <p:sldId id="316" r:id="rId22"/>
    <p:sldId id="317" r:id="rId23"/>
    <p:sldId id="305" r:id="rId24"/>
    <p:sldId id="301" r:id="rId25"/>
    <p:sldId id="320" r:id="rId26"/>
    <p:sldId id="321" r:id="rId27"/>
    <p:sldId id="268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C47"/>
    <a:srgbClr val="E28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99"/>
    <p:restoredTop sz="92204"/>
  </p:normalViewPr>
  <p:slideViewPr>
    <p:cSldViewPr snapToGrid="0" snapToObjects="1">
      <p:cViewPr varScale="1">
        <p:scale>
          <a:sx n="125" d="100"/>
          <a:sy n="125" d="100"/>
        </p:scale>
        <p:origin x="6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3C3FE-C6A4-A24A-A50D-3B2373DCEB36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13A00-2F39-1143-A06B-0449DBF6C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8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32846-5510-0E95-CE81-179CEAD1C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9C8A5C-A549-A0B5-E06F-E58F95D4D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AD66E-E322-1018-470D-FA7D8EEC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15609-9CE5-8436-2CFB-F657CB742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13A00-2F39-1143-A06B-0449DBF6C05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39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13A00-2F39-1143-A06B-0449DBF6C05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84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EA3B4-6AEC-E748-8C9D-BF073A5A6499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021A-4DD3-854B-B35F-0EE3E23A0C8B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3B9A2-ECD6-884B-9762-9E934E1BFFC9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38243-621B-1747-B818-97E8C2C3CFBF}" type="datetime1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D576E-4829-DB4E-A216-10CFC04BB0D5}" type="datetime1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D6E7-9FCA-524C-AC8B-03CB8DB861F2}" type="datetime1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38224-331A-7D47-BDE8-5F3284C13346}" type="datetime1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AFD0-1E65-9444-9DA4-F24D1533B04E}" type="datetime1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05C5-27C7-DE42-966D-69C91AF619F1}" type="datetime1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8058-246E-3F42-89D1-3743417824CA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A142-9FDC-1740-84E1-25DA769558EB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750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E8EB5-273A-544B-A15F-CF8A5A660909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5" y="434402"/>
            <a:ext cx="4044060" cy="1071859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AI-Based Ballpark Quotation Tool</a:t>
            </a: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59" y="3429000"/>
            <a:ext cx="3182691" cy="14127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Team: 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Nida Ejaz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Temur </a:t>
            </a:r>
            <a:r>
              <a:rPr lang="en-US" sz="19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Kuchkorov</a:t>
            </a:r>
            <a:endParaRPr lang="en-US" sz="19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Javokhirbek</a:t>
            </a: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Parpikhodjaev</a:t>
            </a:r>
            <a:endParaRPr lang="en-US" sz="19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9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3" descr="A blue circle with smoke&#10;&#10;AI-generated content may be incorrect.">
            <a:extLst>
              <a:ext uri="{FF2B5EF4-FFF2-40B4-BE49-F238E27FC236}">
                <a16:creationId xmlns:a16="http://schemas.microsoft.com/office/drawing/2014/main" id="{0ED7C05E-7E7F-0830-3755-14A1A8C94A67}"/>
              </a:ext>
            </a:extLst>
          </p:cNvPr>
          <p:cNvPicPr/>
          <p:nvPr/>
        </p:nvPicPr>
        <p:blipFill>
          <a:blip r:embed="rId2" cstate="print"/>
          <a:srcRect l="25622" r="31978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083DA0B8-1AC5-2275-050A-FC7AA55DC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A black and blue logo&#10;&#10;AI-generated content may be incorrect.">
            <a:extLst>
              <a:ext uri="{FF2B5EF4-FFF2-40B4-BE49-F238E27FC236}">
                <a16:creationId xmlns:a16="http://schemas.microsoft.com/office/drawing/2014/main" id="{67058805-204E-58AF-C12F-882216F793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623" b="29845"/>
          <a:stretch>
            <a:fillRect/>
          </a:stretch>
        </p:blipFill>
        <p:spPr>
          <a:xfrm>
            <a:off x="2783753" y="6086777"/>
            <a:ext cx="1198880" cy="509905"/>
          </a:xfrm>
          <a:prstGeom prst="rect">
            <a:avLst/>
          </a:prstGeom>
        </p:spPr>
      </p:pic>
      <p:pic>
        <p:nvPicPr>
          <p:cNvPr id="8" name="Picture 7" descr="A black and blue logo&#10;&#10;AI-generated content may be incorrect.">
            <a:extLst>
              <a:ext uri="{FF2B5EF4-FFF2-40B4-BE49-F238E27FC236}">
                <a16:creationId xmlns:a16="http://schemas.microsoft.com/office/drawing/2014/main" id="{7A3E7A26-C519-36F6-87B7-75FCDACBDC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3722" y="2213546"/>
            <a:ext cx="2858946" cy="2430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B85AAE-4C9F-5813-1493-027519DF6752}"/>
              </a:ext>
            </a:extLst>
          </p:cNvPr>
          <p:cNvSpPr txBox="1"/>
          <p:nvPr/>
        </p:nvSpPr>
        <p:spPr>
          <a:xfrm>
            <a:off x="428600" y="1587014"/>
            <a:ext cx="3285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Automating R&amp;D Cost Estimation for IVECO/FPT Industrial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CB7A-B050-ACC7-32F9-02BACB9ED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of Contents</a:t>
            </a:r>
            <a:endParaRPr lang="en-PK" sz="4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95644-5376-30C5-C36B-2F594333E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57" y="1417638"/>
            <a:ext cx="8027043" cy="455735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</a:p>
          <a:p>
            <a:pPr>
              <a:lnSpc>
                <a:spcPct val="110000"/>
              </a:lnSpc>
            </a:pPr>
            <a:r>
              <a:rPr lang="en-GB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  <a:p>
            <a:pPr>
              <a:lnSpc>
                <a:spcPct val="110000"/>
              </a:lnSpc>
            </a:pPr>
            <a:r>
              <a:rPr lang="en-GB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Proposition</a:t>
            </a:r>
          </a:p>
          <a:p>
            <a:pPr>
              <a:lnSpc>
                <a:spcPct val="110000"/>
              </a:lnSpc>
            </a:pPr>
            <a:r>
              <a:rPr lang="en-GB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Questions</a:t>
            </a:r>
          </a:p>
          <a:p>
            <a:pPr>
              <a:lnSpc>
                <a:spcPct val="110000"/>
              </a:lnSpc>
            </a:pPr>
            <a:r>
              <a:rPr lang="en-GB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</a:p>
          <a:p>
            <a:pPr>
              <a:lnSpc>
                <a:spcPct val="110000"/>
              </a:lnSpc>
            </a:pPr>
            <a:r>
              <a:rPr lang="en-GB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Experiments</a:t>
            </a:r>
          </a:p>
          <a:p>
            <a:pPr>
              <a:lnSpc>
                <a:spcPct val="110000"/>
              </a:lnSpc>
            </a:pPr>
            <a:r>
              <a:rPr lang="en-GB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 Demo</a:t>
            </a:r>
          </a:p>
          <a:p>
            <a:pPr>
              <a:lnSpc>
                <a:spcPct val="110000"/>
              </a:lnSpc>
            </a:pPr>
            <a:r>
              <a:rPr lang="en-GB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5">
            <a:extLst>
              <a:ext uri="{FF2B5EF4-FFF2-40B4-BE49-F238E27FC236}">
                <a16:creationId xmlns:a16="http://schemas.microsoft.com/office/drawing/2014/main" id="{C9B6ABAF-C3E1-C860-E743-464C4CB94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A black and blue logo&#10;&#10;AI-generated content may be incorrect.">
            <a:extLst>
              <a:ext uri="{FF2B5EF4-FFF2-40B4-BE49-F238E27FC236}">
                <a16:creationId xmlns:a16="http://schemas.microsoft.com/office/drawing/2014/main" id="{B34231EA-3C28-8390-AEC3-18D54DABBC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36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BF92E4-C9C4-69FB-29A0-BD8694DA4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Rectangle 2065">
            <a:extLst>
              <a:ext uri="{FF2B5EF4-FFF2-40B4-BE49-F238E27FC236}">
                <a16:creationId xmlns:a16="http://schemas.microsoft.com/office/drawing/2014/main" id="{59613C01-B4AD-D3B7-F641-C0170D948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A close up of a network&#10;&#10;AI-generated content may be incorrect.">
            <a:extLst>
              <a:ext uri="{FF2B5EF4-FFF2-40B4-BE49-F238E27FC236}">
                <a16:creationId xmlns:a16="http://schemas.microsoft.com/office/drawing/2014/main" id="{4375C424-7B77-0CB8-BB48-6FB4999B6B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5614" r="20070" b="-1"/>
          <a:stretch>
            <a:fillRect/>
          </a:stretch>
        </p:blipFill>
        <p:spPr>
          <a:xfrm>
            <a:off x="20" y="10"/>
            <a:ext cx="914169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CD0739-F0A3-30FC-5054-04D566C20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22363"/>
            <a:ext cx="6858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b="1" dirty="0">
                <a:solidFill>
                  <a:schemeClr val="bg1"/>
                </a:solidFill>
              </a:rPr>
              <a:t>CHALLANGE &amp;</a:t>
            </a:r>
            <a:br>
              <a:rPr lang="en-US" sz="5700" b="1" dirty="0">
                <a:solidFill>
                  <a:schemeClr val="bg1"/>
                </a:solidFill>
              </a:rPr>
            </a:br>
            <a:r>
              <a:rPr lang="en-US" sz="5700" b="1" dirty="0">
                <a:solidFill>
                  <a:schemeClr val="bg1"/>
                </a:solidFill>
              </a:rPr>
              <a:t>PROJECT OBJECTIVE</a:t>
            </a:r>
          </a:p>
        </p:txBody>
      </p:sp>
      <p:sp>
        <p:nvSpPr>
          <p:cNvPr id="2071" name="sketchy line">
            <a:extLst>
              <a:ext uri="{FF2B5EF4-FFF2-40B4-BE49-F238E27FC236}">
                <a16:creationId xmlns:a16="http://schemas.microsoft.com/office/drawing/2014/main" id="{C52EC7B3-58D2-0331-8B96-D7D3BCC2F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368623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4374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1CFEF-060B-594C-8F33-FB1C5041E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CD4C-EE4F-995C-E0E6-438C4A8B2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IVECO Group</a:t>
            </a:r>
            <a:endParaRPr b="1" dirty="0">
              <a:solidFill>
                <a:schemeClr val="tx2"/>
              </a:solidFill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531FBFAC-B9D7-DABD-AB2C-A3674E9FE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A black and blue logo&#10;&#10;AI-generated content may be incorrect.">
            <a:extLst>
              <a:ext uri="{FF2B5EF4-FFF2-40B4-BE49-F238E27FC236}">
                <a16:creationId xmlns:a16="http://schemas.microsoft.com/office/drawing/2014/main" id="{471535FA-4A71-3624-CCBE-C4E4D3FA09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pic>
        <p:nvPicPr>
          <p:cNvPr id="8" name="Picture 7" descr="A multicolored text on a white background&#10;&#10;AI-generated content may be incorrect.">
            <a:extLst>
              <a:ext uri="{FF2B5EF4-FFF2-40B4-BE49-F238E27FC236}">
                <a16:creationId xmlns:a16="http://schemas.microsoft.com/office/drawing/2014/main" id="{7F2A7560-D512-85CA-F26E-8377F24CCF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0" t="25205" r="2220" b="23684"/>
          <a:stretch>
            <a:fillRect/>
          </a:stretch>
        </p:blipFill>
        <p:spPr>
          <a:xfrm>
            <a:off x="457199" y="1994227"/>
            <a:ext cx="8229601" cy="312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57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78D87-5DE0-4560-DE50-169BA0279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78B8-0030-C47C-5F17-C52D0C73C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Problem Statement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E03E5F73-1853-F9A8-C842-1D9708D3B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A black and blue logo&#10;&#10;AI-generated content may be incorrect.">
            <a:extLst>
              <a:ext uri="{FF2B5EF4-FFF2-40B4-BE49-F238E27FC236}">
                <a16:creationId xmlns:a16="http://schemas.microsoft.com/office/drawing/2014/main" id="{17B5CA91-5DBC-A40A-6E57-A65BF3877A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A4E69B-3EEE-9D26-D0F4-1F6BB5A6E25C}"/>
              </a:ext>
            </a:extLst>
          </p:cNvPr>
          <p:cNvSpPr txBox="1"/>
          <p:nvPr/>
        </p:nvSpPr>
        <p:spPr>
          <a:xfrm>
            <a:off x="635662" y="1521807"/>
            <a:ext cx="765048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 Intensity: 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Analyzing PR Excel files is slow and requires deep expert knowledge.</a:t>
            </a:r>
            <a:endParaRPr lang="ru-RU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Fragmented Data: 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no centralized database linking historical PRs with their final R&amp;D Offers.</a:t>
            </a:r>
            <a:endParaRPr lang="ru-RU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DEPENDENCY: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process relies heavily on individual expert knowledge, creating a risk of knowledge loss.</a:t>
            </a:r>
          </a:p>
          <a:p>
            <a:pPr algn="just"/>
            <a:endParaRPr lang="en-US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Inconsistency: 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Customer Managers provide different quotes for similar requests.</a:t>
            </a:r>
          </a:p>
        </p:txBody>
      </p:sp>
    </p:spTree>
    <p:extLst>
      <p:ext uri="{BB962C8B-B14F-4D97-AF65-F5344CB8AC3E}">
        <p14:creationId xmlns:p14="http://schemas.microsoft.com/office/powerpoint/2010/main" val="2724136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60A1D-1BDF-CBE4-42B7-933807BEF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A6949-8F04-B625-2A00-994C36131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92" y="640080"/>
            <a:ext cx="293452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Request</a:t>
            </a:r>
            <a:br>
              <a:rPr lang="en-US" sz="48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Input: Excel File</a:t>
            </a:r>
            <a:endParaRPr lang="en-US" sz="24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8" name="Picture 7" descr="A yellow paper with text&#10;&#10;AI-generated content may be incorrect.">
            <a:extLst>
              <a:ext uri="{FF2B5EF4-FFF2-40B4-BE49-F238E27FC236}">
                <a16:creationId xmlns:a16="http://schemas.microsoft.com/office/drawing/2014/main" id="{C56B481A-FE59-474E-AEA3-949F72FB8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283" y="238580"/>
            <a:ext cx="5251597" cy="6110275"/>
          </a:xfrm>
          <a:prstGeom prst="rect">
            <a:avLst/>
          </a:prstGeom>
        </p:spPr>
      </p:pic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53673A23-398E-546D-4287-DBB76A059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black and blue logo&#10;&#10;AI-generated content may be incorrect.">
            <a:extLst>
              <a:ext uri="{FF2B5EF4-FFF2-40B4-BE49-F238E27FC236}">
                <a16:creationId xmlns:a16="http://schemas.microsoft.com/office/drawing/2014/main" id="{C2BB7D2D-1EEC-A081-3860-B56885CC1D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1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8229601" cy="155416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tx2"/>
                </a:solidFill>
              </a:rPr>
              <a:t>Project Objective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8800"/>
            <a:ext cx="8229600" cy="3251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an AI-based tool for fast ballpark R&amp;D estimations</a:t>
            </a:r>
          </a:p>
          <a:p>
            <a:r>
              <a:rPr lang="en-GB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 extract key information from PR Excel files</a:t>
            </a:r>
          </a:p>
          <a:p>
            <a:r>
              <a:rPr lang="en-GB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historical PR–Offer pairs as training data</a:t>
            </a:r>
          </a:p>
          <a:p>
            <a:r>
              <a:rPr lang="en-GB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 </a:t>
            </a:r>
            <a:r>
              <a:rPr lang="en-GB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function-level</a:t>
            </a:r>
            <a:r>
              <a:rPr lang="en-GB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R&amp;D effort breakdown</a:t>
            </a:r>
          </a:p>
          <a:p>
            <a:r>
              <a:rPr lang="en-GB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 Customer Managers and Function Owners to refine results</a:t>
            </a:r>
          </a:p>
          <a:p>
            <a:pPr marL="342900" lvl="1" indent="-342900" algn="just">
              <a:buFont typeface="Arial"/>
              <a:buChar char="•"/>
              <a:defRPr sz="2000"/>
            </a:pPr>
            <a:endParaRPr lang="en-GB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E67B5858-F9B8-5897-0868-3CA180E7F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and blue logo&#10;&#10;AI-generated content may be incorrect.">
            <a:extLst>
              <a:ext uri="{FF2B5EF4-FFF2-40B4-BE49-F238E27FC236}">
                <a16:creationId xmlns:a16="http://schemas.microsoft.com/office/drawing/2014/main" id="{1F46CE88-D5F6-C028-A143-12C99D137B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5A24B-C098-AEE8-24BE-4BEFC3CF7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912A-5788-C691-2CBA-117D35375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543604"/>
            <a:ext cx="9144000" cy="952846"/>
          </a:xfr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</a:t>
            </a:r>
            <a:r>
              <a:rPr lang="en-US" sz="4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sz="40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uote</a:t>
            </a:r>
            <a:r>
              <a:rPr lang="ru-RU" sz="40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ru-RU" sz="36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Function Level R&amp;D</a:t>
            </a:r>
            <a:endParaRPr lang="en-US" sz="24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F9713E9E-7458-16D9-9FC8-66DFE5B16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black and blue logo&#10;&#10;AI-generated content may be incorrect.">
            <a:extLst>
              <a:ext uri="{FF2B5EF4-FFF2-40B4-BE49-F238E27FC236}">
                <a16:creationId xmlns:a16="http://schemas.microsoft.com/office/drawing/2014/main" id="{11EFE9EB-0E91-3C99-90DD-7CE76FBCB0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8DA5F0-3D6C-DBB9-F0C6-5322F985E39A}"/>
              </a:ext>
            </a:extLst>
          </p:cNvPr>
          <p:cNvSpPr txBox="1"/>
          <p:nvPr/>
        </p:nvSpPr>
        <p:spPr>
          <a:xfrm>
            <a:off x="8199120" y="863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 descr="A red and white document with text&#10;&#10;AI-generated content may be incorrect.">
            <a:extLst>
              <a:ext uri="{FF2B5EF4-FFF2-40B4-BE49-F238E27FC236}">
                <a16:creationId xmlns:a16="http://schemas.microsoft.com/office/drawing/2014/main" id="{74971D8D-2425-D3CB-BAE6-0AFAC9C5C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30" y="1675227"/>
            <a:ext cx="802593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882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808" y="311505"/>
            <a:ext cx="8229600" cy="1143000"/>
          </a:xfrm>
        </p:spPr>
        <p:txBody>
          <a:bodyPr/>
          <a:lstStyle/>
          <a:p>
            <a:r>
              <a:rPr lang="en-US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Proposition</a:t>
            </a:r>
            <a:endParaRPr lang="en-US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417" y="1755530"/>
            <a:ext cx="8428383" cy="3346940"/>
          </a:xfrm>
        </p:spPr>
        <p:txBody>
          <a:bodyPr>
            <a:no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the Customer Manager: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Speed: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Instant preliminary estimations replace days of manual analysis.</a:t>
            </a:r>
          </a:p>
          <a:p>
            <a:pPr lvl="1"/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Accuracy: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Data-driven predictions improve consistency across all quotations.</a:t>
            </a:r>
          </a:p>
          <a:p>
            <a:pPr lvl="1"/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Efficiency: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Drastic reduction in manual workload, allowing focus on high-value tasks</a:t>
            </a:r>
            <a:endParaRPr lang="ru-RU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ru-RU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the Business: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Agility: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Faster "Go/No-Go" decisions accelerate the sales cycle.</a:t>
            </a:r>
          </a:p>
          <a:p>
            <a:pPr lvl="1"/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Standardization: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unified process across all functions and departments</a:t>
            </a:r>
          </a:p>
          <a:p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2A0C47-61C4-63F9-2FEC-698FCA046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black and blue logo&#10;&#10;AI-generated content may be incorrect.">
            <a:extLst>
              <a:ext uri="{FF2B5EF4-FFF2-40B4-BE49-F238E27FC236}">
                <a16:creationId xmlns:a16="http://schemas.microsoft.com/office/drawing/2014/main" id="{A582C88D-F3DB-5EB1-13C4-868967C38E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7580-A4CC-073C-A3E0-D45C332B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799E-3982-BEF9-2F4B-0A541044E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Sustainable Development Goal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934F614-21CD-37C7-2008-114C61CC0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282" y="1659285"/>
            <a:ext cx="420049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SDG 9: Industry, Innovation and Infrastructure</a:t>
            </a:r>
            <a:endParaRPr lang="en-US" altLang="en-US" sz="16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Enhancing industrial capability through digitalization and AI-driven automation.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SDG 12: Responsible Consumption and Production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Reducing "Engineering Waste" by minimizing duplicated efforts and optimizing resource planning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092DB4-30EE-F472-AE6D-07A289D94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black and blue logo&#10;&#10;AI-generated content may be incorrect.">
            <a:extLst>
              <a:ext uri="{FF2B5EF4-FFF2-40B4-BE49-F238E27FC236}">
                <a16:creationId xmlns:a16="http://schemas.microsoft.com/office/drawing/2014/main" id="{E3F60B17-D2AF-3D57-D3C5-B26D271F88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pic>
        <p:nvPicPr>
          <p:cNvPr id="9" name="Picture 8" descr="A logo on an orange background&#10;&#10;AI-generated content may be incorrect.">
            <a:extLst>
              <a:ext uri="{FF2B5EF4-FFF2-40B4-BE49-F238E27FC236}">
                <a16:creationId xmlns:a16="http://schemas.microsoft.com/office/drawing/2014/main" id="{E662FF50-11B5-89CA-85D1-4B365463E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117" y="1921255"/>
            <a:ext cx="1325366" cy="1325366"/>
          </a:xfrm>
          <a:prstGeom prst="rect">
            <a:avLst/>
          </a:prstGeom>
        </p:spPr>
      </p:pic>
      <p:pic>
        <p:nvPicPr>
          <p:cNvPr id="12" name="Picture 11" descr="A yellow sign with white text&#10;&#10;AI-generated content may be incorrect.">
            <a:extLst>
              <a:ext uri="{FF2B5EF4-FFF2-40B4-BE49-F238E27FC236}">
                <a16:creationId xmlns:a16="http://schemas.microsoft.com/office/drawing/2014/main" id="{717193D4-749B-90F1-6673-DDDC5B544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5117" y="3750238"/>
            <a:ext cx="1325366" cy="132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85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9259D1-0B0D-EC1B-1F74-D0407BCA5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black and blue logo&#10;&#10;AI-generated content may be incorrect.">
            <a:extLst>
              <a:ext uri="{FF2B5EF4-FFF2-40B4-BE49-F238E27FC236}">
                <a16:creationId xmlns:a16="http://schemas.microsoft.com/office/drawing/2014/main" id="{6EB1ADE8-F6FE-78A7-0DCB-40BD7F22C8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949C7B-FC96-821B-A98C-E6C71A1E92C7}"/>
              </a:ext>
            </a:extLst>
          </p:cNvPr>
          <p:cNvSpPr txBox="1"/>
          <p:nvPr/>
        </p:nvSpPr>
        <p:spPr>
          <a:xfrm>
            <a:off x="2286000" y="170154"/>
            <a:ext cx="457200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i="0" u="none" strike="noStrike" kern="1200" cap="none" dirty="0">
                <a:solidFill>
                  <a:schemeClr val="tx2"/>
                </a:solidFill>
                <a:latin typeface="+mj-lt"/>
                <a:ea typeface="+mj-ea"/>
                <a:cs typeface="+mj-cs"/>
                <a:sym typeface="Urbanist"/>
              </a:rPr>
              <a:t>LLM Based Pipeline and Interface for Tool</a:t>
            </a:r>
            <a:endParaRPr lang="en-US" sz="32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A diagram of a cost calculation system&#10;&#10;AI-generated content may be incorrect.">
            <a:extLst>
              <a:ext uri="{FF2B5EF4-FFF2-40B4-BE49-F238E27FC236}">
                <a16:creationId xmlns:a16="http://schemas.microsoft.com/office/drawing/2014/main" id="{F047E87A-E20D-C540-C17C-C4D5C43AAF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759" b="2920"/>
          <a:stretch>
            <a:fillRect/>
          </a:stretch>
        </p:blipFill>
        <p:spPr>
          <a:xfrm>
            <a:off x="521863" y="1551008"/>
            <a:ext cx="8100273" cy="401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91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C3D8F-E866-5885-8C6E-EF87F3827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Rectangle 2065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of a network&#10;&#10;AI-generated content may be incorrect.">
            <a:extLst>
              <a:ext uri="{FF2B5EF4-FFF2-40B4-BE49-F238E27FC236}">
                <a16:creationId xmlns:a16="http://schemas.microsoft.com/office/drawing/2014/main" id="{126F5E43-266F-1278-36E9-783A0A08A1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5614" r="20070" b="-1"/>
          <a:stretch>
            <a:fillRect/>
          </a:stretch>
        </p:blipFill>
        <p:spPr>
          <a:xfrm>
            <a:off x="20" y="10"/>
            <a:ext cx="914169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8BBCB3-BAA6-2310-90AD-C380F3A23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22363"/>
            <a:ext cx="6858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b="1" dirty="0">
                <a:solidFill>
                  <a:schemeClr val="bg1"/>
                </a:solidFill>
              </a:rPr>
              <a:t>RESEARCH</a:t>
            </a:r>
            <a:br>
              <a:rPr lang="en-US" sz="5700" b="1" dirty="0">
                <a:solidFill>
                  <a:schemeClr val="bg1"/>
                </a:solidFill>
              </a:rPr>
            </a:br>
            <a:r>
              <a:rPr lang="en-US" sz="5700" b="1" dirty="0">
                <a:solidFill>
                  <a:schemeClr val="bg1"/>
                </a:solidFill>
              </a:rPr>
              <a:t>QUESTIONS</a:t>
            </a:r>
          </a:p>
        </p:txBody>
      </p:sp>
      <p:sp>
        <p:nvSpPr>
          <p:cNvPr id="2071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368623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08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E4F00-0FBD-A4F9-F7BE-3137FB0F7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0AF8C-F798-AF54-F4F4-E9123300C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08" y="311505"/>
            <a:ext cx="8229600" cy="1143000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AC0B2-D248-7159-4989-9BFEDC251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271" y="1701000"/>
            <a:ext cx="8603312" cy="3831699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RQ1 - </a:t>
            </a:r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the tool transform raw text into activity type and activity effort?</a:t>
            </a:r>
            <a:endParaRPr lang="ru-RU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</a:t>
            </a:r>
            <a:r>
              <a:rPr lang="ru-RU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tool find PR similarities: can we measure the accuracy of the search engine?</a:t>
            </a:r>
          </a:p>
          <a:p>
            <a:pPr>
              <a:lnSpc>
                <a:spcPct val="200000"/>
              </a:lnSpc>
            </a:pP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</a:t>
            </a:r>
            <a:r>
              <a:rPr lang="ru-RU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standalone regression model sufficient for business decision-making?</a:t>
            </a:r>
          </a:p>
          <a:p>
            <a:pPr>
              <a:lnSpc>
                <a:spcPct val="200000"/>
              </a:lnSpc>
            </a:pP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</a:t>
            </a:r>
            <a:r>
              <a:rPr lang="ru-RU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much tool is good in predicting activity type? </a:t>
            </a:r>
            <a:endParaRPr lang="en-GB" sz="16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</a:t>
            </a:r>
            <a:r>
              <a:rPr lang="ru-RU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much tool is good in estimating effort intensity (hrs)?</a:t>
            </a:r>
          </a:p>
          <a:p>
            <a:pPr>
              <a:lnSpc>
                <a:spcPct val="200000"/>
              </a:lnSpc>
            </a:pP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</a:t>
            </a:r>
            <a:r>
              <a:rPr lang="ru-RU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GB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much tool is good in estimating cost?</a:t>
            </a:r>
          </a:p>
          <a:p>
            <a:pPr>
              <a:lnSpc>
                <a:spcPct val="200000"/>
              </a:lnSpc>
            </a:pPr>
            <a:endParaRPr lang="en-GB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0C4B11-EBC2-7210-5FE9-15C31F24D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black and blue logo&#10;&#10;AI-generated content may be incorrect.">
            <a:extLst>
              <a:ext uri="{FF2B5EF4-FFF2-40B4-BE49-F238E27FC236}">
                <a16:creationId xmlns:a16="http://schemas.microsoft.com/office/drawing/2014/main" id="{39C7E82F-EBD9-5AD9-5C25-23B5795C54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99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B509B-BFBB-FB93-F733-082156BE8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Rectangle 2065">
            <a:extLst>
              <a:ext uri="{FF2B5EF4-FFF2-40B4-BE49-F238E27FC236}">
                <a16:creationId xmlns:a16="http://schemas.microsoft.com/office/drawing/2014/main" id="{BFF11E79-D682-9563-FE82-965B731EF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of a network&#10;&#10;AI-generated content may be incorrect.">
            <a:extLst>
              <a:ext uri="{FF2B5EF4-FFF2-40B4-BE49-F238E27FC236}">
                <a16:creationId xmlns:a16="http://schemas.microsoft.com/office/drawing/2014/main" id="{C23D1958-47A2-63A2-95FE-F082C8E5C8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5614" r="20070" b="-1"/>
          <a:stretch>
            <a:fillRect/>
          </a:stretch>
        </p:blipFill>
        <p:spPr>
          <a:xfrm>
            <a:off x="20" y="10"/>
            <a:ext cx="914169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46B518-7816-C15E-527F-7C64703F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857" y="1027596"/>
            <a:ext cx="6858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2071" name="sketchy line">
            <a:extLst>
              <a:ext uri="{FF2B5EF4-FFF2-40B4-BE49-F238E27FC236}">
                <a16:creationId xmlns:a16="http://schemas.microsoft.com/office/drawing/2014/main" id="{DE05DF4D-AE94-3C8C-EDE2-16319A6C2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368623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90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1BA78-B417-06EF-77FB-A32CB27DE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05FEA3-1BC6-3D4A-3D38-2859697B9554}"/>
              </a:ext>
            </a:extLst>
          </p:cNvPr>
          <p:cNvSpPr/>
          <p:nvPr/>
        </p:nvSpPr>
        <p:spPr>
          <a:xfrm>
            <a:off x="86360" y="205609"/>
            <a:ext cx="8971280" cy="1122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Methodology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From Text to Estimation Content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2D1D89-84BF-4493-FA0D-E8C8911CF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black and blue logo&#10;&#10;AI-generated content may be incorrect.">
            <a:extLst>
              <a:ext uri="{FF2B5EF4-FFF2-40B4-BE49-F238E27FC236}">
                <a16:creationId xmlns:a16="http://schemas.microsoft.com/office/drawing/2014/main" id="{1A439F98-67EF-580B-0601-E16A75BD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890438-EFFF-C539-AF02-C998C46FB192}"/>
              </a:ext>
            </a:extLst>
          </p:cNvPr>
          <p:cNvSpPr txBox="1"/>
          <p:nvPr/>
        </p:nvSpPr>
        <p:spPr>
          <a:xfrm>
            <a:off x="0" y="0"/>
            <a:ext cx="800219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RQ: 1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3277E8-176A-2C4D-7245-6DD998D59CDF}"/>
              </a:ext>
            </a:extLst>
          </p:cNvPr>
          <p:cNvSpPr txBox="1"/>
          <p:nvPr/>
        </p:nvSpPr>
        <p:spPr>
          <a:xfrm>
            <a:off x="203096" y="1652793"/>
            <a:ext cx="8682487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Ingestion (Text</a:t>
            </a:r>
            <a:r>
              <a:rPr lang="ru-RU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Features):</a:t>
            </a:r>
            <a:endParaRPr lang="ru-RU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Raw Product Request (Excel/pptx).</a:t>
            </a:r>
            <a:endParaRPr lang="ru-RU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Parsing: LLM extracts </a:t>
            </a:r>
            <a:r>
              <a:rPr lang="ru-RU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structured features.</a:t>
            </a:r>
            <a:endParaRPr lang="ru-RU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Transformation: Categorical data is encoded; numerical data is normalized.</a:t>
            </a:r>
          </a:p>
          <a:p>
            <a:pPr lvl="1">
              <a:spcAft>
                <a:spcPts val="600"/>
              </a:spcAft>
            </a:pPr>
            <a:endParaRPr lang="ru-RU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Processing Engine:</a:t>
            </a:r>
            <a:r>
              <a:rPr lang="ru-RU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 A (Prediction): HCQE Model predicts Effort Intensity &amp; Cost based on feature complexity.</a:t>
            </a:r>
            <a:endParaRPr lang="ru-RU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 B (Context): RAG Engine retrieves historical analogies.</a:t>
            </a:r>
          </a:p>
          <a:p>
            <a:pPr lvl="1">
              <a:spcAft>
                <a:spcPts val="600"/>
              </a:spcAft>
            </a:pPr>
            <a:endParaRPr lang="ru-RU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  <a:r>
              <a:rPr lang="ru-RU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 Agent synthesizes the prediction with historical context into a business report</a:t>
            </a:r>
          </a:p>
        </p:txBody>
      </p:sp>
    </p:spTree>
    <p:extLst>
      <p:ext uri="{BB962C8B-B14F-4D97-AF65-F5344CB8AC3E}">
        <p14:creationId xmlns:p14="http://schemas.microsoft.com/office/powerpoint/2010/main" val="2865403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D5704-C289-BF17-6CC2-3F4562FF6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201E5370-A120-AD73-1E6E-630A32A2D458}"/>
              </a:ext>
            </a:extLst>
          </p:cNvPr>
          <p:cNvSpPr/>
          <p:nvPr/>
        </p:nvSpPr>
        <p:spPr>
          <a:xfrm>
            <a:off x="646866" y="272017"/>
            <a:ext cx="7850267" cy="1212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750"/>
              </a:lnSpc>
            </a:pPr>
            <a:r>
              <a:rPr lang="en-US" sz="4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RAG System </a:t>
            </a:r>
          </a:p>
          <a:p>
            <a:pPr algn="ctr">
              <a:lnSpc>
                <a:spcPts val="475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Contextualized Cost Justification</a:t>
            </a:r>
          </a:p>
        </p:txBody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3887EDDC-86D8-735F-B1A0-A14A93B6E3E6}"/>
              </a:ext>
            </a:extLst>
          </p:cNvPr>
          <p:cNvSpPr/>
          <p:nvPr/>
        </p:nvSpPr>
        <p:spPr>
          <a:xfrm>
            <a:off x="633966" y="1637864"/>
            <a:ext cx="3832741" cy="2642274"/>
          </a:xfrm>
          <a:prstGeom prst="roundRect">
            <a:avLst>
              <a:gd name="adj" fmla="val 4282"/>
            </a:avLst>
          </a:prstGeom>
          <a:solidFill>
            <a:schemeClr val="tx2">
              <a:alpha val="95000"/>
            </a:schemeClr>
          </a:solidFill>
          <a:ln/>
        </p:spPr>
        <p:txBody>
          <a:bodyPr/>
          <a:lstStyle/>
          <a:p>
            <a:pPr algn="ctr"/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F79654B6-32B0-A85A-B641-4805CB3E1F56}"/>
              </a:ext>
            </a:extLst>
          </p:cNvPr>
          <p:cNvSpPr/>
          <p:nvPr/>
        </p:nvSpPr>
        <p:spPr>
          <a:xfrm>
            <a:off x="921263" y="2176722"/>
            <a:ext cx="301085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Beyond Numerical Guesses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Image 3" descr="preencoded.png">
            <a:extLst>
              <a:ext uri="{FF2B5EF4-FFF2-40B4-BE49-F238E27FC236}">
                <a16:creationId xmlns:a16="http://schemas.microsoft.com/office/drawing/2014/main" id="{05B3E2C8-7FCA-5D8C-8F6D-E226FD188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7483" y="1790698"/>
            <a:ext cx="221813" cy="221813"/>
          </a:xfrm>
          <a:prstGeom prst="rect">
            <a:avLst/>
          </a:prstGeom>
        </p:spPr>
      </p:pic>
      <p:sp>
        <p:nvSpPr>
          <p:cNvPr id="34" name="Text 3">
            <a:extLst>
              <a:ext uri="{FF2B5EF4-FFF2-40B4-BE49-F238E27FC236}">
                <a16:creationId xmlns:a16="http://schemas.microsoft.com/office/drawing/2014/main" id="{50D7CE09-CE8A-42FC-12F7-DD56A5F0F196}"/>
              </a:ext>
            </a:extLst>
          </p:cNvPr>
          <p:cNvSpPr/>
          <p:nvPr/>
        </p:nvSpPr>
        <p:spPr>
          <a:xfrm>
            <a:off x="841610" y="2694663"/>
            <a:ext cx="3417451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Our AI tool doesn't just provide cost figures; it offers depth and justification, moving beyond mere numerical predictions.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30EE3784-761F-B7D6-60D0-2FE986B8B032}"/>
              </a:ext>
            </a:extLst>
          </p:cNvPr>
          <p:cNvSpPr/>
          <p:nvPr/>
        </p:nvSpPr>
        <p:spPr>
          <a:xfrm>
            <a:off x="4871972" y="1630502"/>
            <a:ext cx="3832741" cy="2649636"/>
          </a:xfrm>
          <a:prstGeom prst="roundRect">
            <a:avLst>
              <a:gd name="adj" fmla="val 4282"/>
            </a:avLst>
          </a:prstGeom>
          <a:solidFill>
            <a:schemeClr val="tx2">
              <a:alpha val="95000"/>
            </a:schemeClr>
          </a:solidFill>
          <a:ln/>
        </p:spPr>
        <p:txBody>
          <a:bodyPr/>
          <a:lstStyle/>
          <a:p>
            <a:pPr algn="ctr"/>
            <a:endParaRPr 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Image 6" descr="preencoded.png">
            <a:extLst>
              <a:ext uri="{FF2B5EF4-FFF2-40B4-BE49-F238E27FC236}">
                <a16:creationId xmlns:a16="http://schemas.microsoft.com/office/drawing/2014/main" id="{B8CED33F-713C-BBC9-BF95-2CE39DEF0F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7437" y="1877496"/>
            <a:ext cx="221813" cy="221813"/>
          </a:xfrm>
          <a:prstGeom prst="rect">
            <a:avLst/>
          </a:prstGeom>
        </p:spPr>
      </p:pic>
      <p:sp>
        <p:nvSpPr>
          <p:cNvPr id="39" name="Text 5">
            <a:extLst>
              <a:ext uri="{FF2B5EF4-FFF2-40B4-BE49-F238E27FC236}">
                <a16:creationId xmlns:a16="http://schemas.microsoft.com/office/drawing/2014/main" id="{2D25C324-72D5-B3CD-5F86-E60842F08D86}"/>
              </a:ext>
            </a:extLst>
          </p:cNvPr>
          <p:cNvSpPr/>
          <p:nvPr/>
        </p:nvSpPr>
        <p:spPr>
          <a:xfrm>
            <a:off x="5347688" y="2176204"/>
            <a:ext cx="288131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Retrieval from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Qdrant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CCE98E3A-06AE-8A5E-1C35-60B1DB159C7A}"/>
              </a:ext>
            </a:extLst>
          </p:cNvPr>
          <p:cNvSpPr/>
          <p:nvPr/>
        </p:nvSpPr>
        <p:spPr>
          <a:xfrm>
            <a:off x="5079681" y="2683428"/>
            <a:ext cx="3417451" cy="122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The Retrieval Augmented Generation (RAG) system actively searches and retrieves the top-3 most similar 'Reference Projects' from our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Qdrant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vector store.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3B04CDBB-B782-48DF-4C60-0E5F6B4916E8}"/>
              </a:ext>
            </a:extLst>
          </p:cNvPr>
          <p:cNvSpPr/>
          <p:nvPr/>
        </p:nvSpPr>
        <p:spPr>
          <a:xfrm>
            <a:off x="646866" y="4483479"/>
            <a:ext cx="8057848" cy="1899011"/>
          </a:xfrm>
          <a:prstGeom prst="roundRect">
            <a:avLst>
              <a:gd name="adj" fmla="val 6550"/>
            </a:avLst>
          </a:prstGeom>
          <a:solidFill>
            <a:schemeClr val="tx2">
              <a:alpha val="95000"/>
            </a:schemeClr>
          </a:solidFill>
          <a:ln/>
        </p:spPr>
        <p:txBody>
          <a:bodyPr/>
          <a:lstStyle/>
          <a:p>
            <a:pPr algn="ctr"/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Image 9" descr="preencoded.png">
            <a:extLst>
              <a:ext uri="{FF2B5EF4-FFF2-40B4-BE49-F238E27FC236}">
                <a16:creationId xmlns:a16="http://schemas.microsoft.com/office/drawing/2014/main" id="{28EF40C9-5EEF-6A26-F204-59A2D3B298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0185" y="4598034"/>
            <a:ext cx="221813" cy="221813"/>
          </a:xfrm>
          <a:prstGeom prst="rect">
            <a:avLst/>
          </a:prstGeom>
        </p:spPr>
      </p:pic>
      <p:sp>
        <p:nvSpPr>
          <p:cNvPr id="45" name="Text 8">
            <a:extLst>
              <a:ext uri="{FF2B5EF4-FFF2-40B4-BE49-F238E27FC236}">
                <a16:creationId xmlns:a16="http://schemas.microsoft.com/office/drawing/2014/main" id="{711D763D-196B-B79E-1A68-1BDF92096019}"/>
              </a:ext>
            </a:extLst>
          </p:cNvPr>
          <p:cNvSpPr/>
          <p:nvPr/>
        </p:nvSpPr>
        <p:spPr>
          <a:xfrm>
            <a:off x="2550337" y="4965561"/>
            <a:ext cx="3585448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Providing Context &amp; Confidence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99C9B8FA-F07E-328A-7F83-F09CE05094BA}"/>
              </a:ext>
            </a:extLst>
          </p:cNvPr>
          <p:cNvSpPr/>
          <p:nvPr/>
        </p:nvSpPr>
        <p:spPr>
          <a:xfrm>
            <a:off x="854510" y="5421889"/>
            <a:ext cx="7434977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These retrieved projects provide invaluable historical context, enabling the AI to justify the estimated cost and enhance stakeholder confidence.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5486E9-DF63-6987-13E7-CB4415453519}"/>
              </a:ext>
            </a:extLst>
          </p:cNvPr>
          <p:cNvSpPr txBox="1"/>
          <p:nvPr/>
        </p:nvSpPr>
        <p:spPr>
          <a:xfrm>
            <a:off x="0" y="0"/>
            <a:ext cx="800219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RQ: </a:t>
            </a:r>
            <a:r>
              <a:rPr lang="ru-RU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00134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E2553-4888-2130-1478-CD0158B1A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6422C0-250D-A000-6985-F4FF17F8DA31}"/>
              </a:ext>
            </a:extLst>
          </p:cNvPr>
          <p:cNvSpPr/>
          <p:nvPr/>
        </p:nvSpPr>
        <p:spPr>
          <a:xfrm>
            <a:off x="86360" y="205609"/>
            <a:ext cx="8971280" cy="1122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Summarized Input </a:t>
            </a:r>
            <a:br>
              <a:rPr lang="en-US" sz="40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</a:br>
            <a:r>
              <a:rPr lang="en-US" sz="40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with LLM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D3C2A2-991E-56C6-93F4-1E084430B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black and blue logo&#10;&#10;AI-generated content may be incorrect.">
            <a:extLst>
              <a:ext uri="{FF2B5EF4-FFF2-40B4-BE49-F238E27FC236}">
                <a16:creationId xmlns:a16="http://schemas.microsoft.com/office/drawing/2014/main" id="{371D19D5-142F-2126-D029-F807D93D2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4A68EC-6550-D453-2BE5-0F65A9E0E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33" y="1628758"/>
            <a:ext cx="8734334" cy="434623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47620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4899-4797-11E8-4BCC-4131A7C94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FC16473-9D8E-B4DA-8DB6-3AD5173BCC77}"/>
              </a:ext>
            </a:extLst>
          </p:cNvPr>
          <p:cNvSpPr/>
          <p:nvPr/>
        </p:nvSpPr>
        <p:spPr>
          <a:xfrm>
            <a:off x="734615" y="149534"/>
            <a:ext cx="7674769" cy="137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 Analyst Agent </a:t>
            </a:r>
          </a:p>
          <a:p>
            <a:pPr marL="0" indent="0" algn="ctr">
              <a:lnSpc>
                <a:spcPts val="5400"/>
              </a:lnSpc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DeepSeek V3 Reasoning Layer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87FA04B-6300-3838-C0CD-97BF74C6C097}"/>
              </a:ext>
            </a:extLst>
          </p:cNvPr>
          <p:cNvSpPr/>
          <p:nvPr/>
        </p:nvSpPr>
        <p:spPr>
          <a:xfrm>
            <a:off x="734615" y="1659167"/>
            <a:ext cx="767476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Role: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Synthesis &amp; Reasoning (not just numerical output)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EF4DCF7-CDEB-5DE0-86AA-93C1C005787E}"/>
              </a:ext>
            </a:extLst>
          </p:cNvPr>
          <p:cNvSpPr/>
          <p:nvPr/>
        </p:nvSpPr>
        <p:spPr>
          <a:xfrm>
            <a:off x="734615" y="2068385"/>
            <a:ext cx="767476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Input: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ML predictions + RAG context + historical patterns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8040F87-53AB-62AB-5F30-A835B76F97FE}"/>
              </a:ext>
            </a:extLst>
          </p:cNvPr>
          <p:cNvSpPr/>
          <p:nvPr/>
        </p:nvSpPr>
        <p:spPr>
          <a:xfrm>
            <a:off x="734615" y="2477603"/>
            <a:ext cx="767476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Processing: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DeepSeek V3 analyzes and synthesizes all signals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AB15DB5-2872-163B-F777-BA38624EE2B4}"/>
              </a:ext>
            </a:extLst>
          </p:cNvPr>
          <p:cNvSpPr/>
          <p:nvPr/>
        </p:nvSpPr>
        <p:spPr>
          <a:xfrm>
            <a:off x="734615" y="2886821"/>
            <a:ext cx="767476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Output: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Business-ready report explaining "Why" the cost is high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F5955CB-C9E7-C6F1-5C8F-89242AE3DDAE}"/>
              </a:ext>
            </a:extLst>
          </p:cNvPr>
          <p:cNvSpPr/>
          <p:nvPr/>
        </p:nvSpPr>
        <p:spPr>
          <a:xfrm>
            <a:off x="734615" y="3296039"/>
            <a:ext cx="767476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Intelligence Features: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559B7FF5-6FAB-3A27-406C-21A38E1BA03A}"/>
              </a:ext>
            </a:extLst>
          </p:cNvPr>
          <p:cNvSpPr/>
          <p:nvPr/>
        </p:nvSpPr>
        <p:spPr>
          <a:xfrm>
            <a:off x="734615" y="3705256"/>
            <a:ext cx="7674769" cy="419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Flags risks and anomalies (e.g., "Calibration hours 2x historical average")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9682E575-0DF7-B161-4F73-05965871D24B}"/>
              </a:ext>
            </a:extLst>
          </p:cNvPr>
          <p:cNvSpPr/>
          <p:nvPr/>
        </p:nvSpPr>
        <p:spPr>
          <a:xfrm>
            <a:off x="734615" y="4124960"/>
            <a:ext cx="767476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Provides confidence intervals and uncertainty bounds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063D3742-891D-CA52-B607-BE1B007C8C3A}"/>
              </a:ext>
            </a:extLst>
          </p:cNvPr>
          <p:cNvSpPr/>
          <p:nvPr/>
        </p:nvSpPr>
        <p:spPr>
          <a:xfrm>
            <a:off x="734614" y="4534178"/>
            <a:ext cx="767476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Generates executive summary with key drivers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99B0409D-D500-E66D-58C7-F9CE290059E8}"/>
              </a:ext>
            </a:extLst>
          </p:cNvPr>
          <p:cNvSpPr/>
          <p:nvPr/>
        </p:nvSpPr>
        <p:spPr>
          <a:xfrm>
            <a:off x="734613" y="4943396"/>
            <a:ext cx="767476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Recommends mitigation strategies for high-risk areas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9459DAED-D2BE-B0D3-09FF-CC275EDCD9E2}"/>
              </a:ext>
            </a:extLst>
          </p:cNvPr>
          <p:cNvSpPr/>
          <p:nvPr/>
        </p:nvSpPr>
        <p:spPr>
          <a:xfrm>
            <a:off x="734612" y="5363099"/>
            <a:ext cx="767476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Value: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Transforms raw predictions into actionable business intelligence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02A8B33-03C8-9223-5B83-B82928BBE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black and blue logo&#10;&#10;AI-generated content may be incorrect.">
            <a:extLst>
              <a:ext uri="{FF2B5EF4-FFF2-40B4-BE49-F238E27FC236}">
                <a16:creationId xmlns:a16="http://schemas.microsoft.com/office/drawing/2014/main" id="{0E33CE10-9BB2-D635-297E-075B82E7E2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7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048C7-B77A-6A32-BABD-11408E3EB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100783-A73C-5890-ECDF-4037599CD6FE}"/>
              </a:ext>
            </a:extLst>
          </p:cNvPr>
          <p:cNvSpPr/>
          <p:nvPr/>
        </p:nvSpPr>
        <p:spPr>
          <a:xfrm>
            <a:off x="86360" y="205609"/>
            <a:ext cx="8971280" cy="1122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Methodology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Mathematical Engine: HCQE &amp; Multi-Tasking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0DB0DD-7204-015B-E3BE-4C9FEBEA3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black and blue logo&#10;&#10;AI-generated content may be incorrect.">
            <a:extLst>
              <a:ext uri="{FF2B5EF4-FFF2-40B4-BE49-F238E27FC236}">
                <a16:creationId xmlns:a16="http://schemas.microsoft.com/office/drawing/2014/main" id="{80D82905-14E5-533B-47FA-613D5F10CD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7B12770B-0EB4-5382-B0A2-5198AD3EE2BA}"/>
              </a:ext>
            </a:extLst>
          </p:cNvPr>
          <p:cNvSpPr/>
          <p:nvPr/>
        </p:nvSpPr>
        <p:spPr>
          <a:xfrm>
            <a:off x="299720" y="1559508"/>
            <a:ext cx="3611880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Effort Intensity Prediction (Hours)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2">
                <a:extLst>
                  <a:ext uri="{FF2B5EF4-FFF2-40B4-BE49-F238E27FC236}">
                    <a16:creationId xmlns:a16="http://schemas.microsoft.com/office/drawing/2014/main" id="{BC5331F9-E71F-E33E-B269-582780C2D71D}"/>
                  </a:ext>
                </a:extLst>
              </p:cNvPr>
              <p:cNvSpPr/>
              <p:nvPr/>
            </p:nvSpPr>
            <p:spPr>
              <a:xfrm>
                <a:off x="299720" y="1905998"/>
                <a:ext cx="8448040" cy="12944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lvl="1" algn="just">
                  <a:lnSpc>
                    <a:spcPts val="2350"/>
                  </a:lnSpc>
                </a:pPr>
                <a:r>
                  <a:rPr 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Since Cost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≈</m:t>
                    </m:r>
                  </m:oMath>
                </a14:m>
                <a:r>
                  <a:rPr 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 Hours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</m:oMath>
                </a14:m>
                <a:r>
                  <a:rPr 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 Rate, our Cost accuracy reflects Effort accuracy.</a:t>
                </a:r>
              </a:p>
              <a:p>
                <a:pPr lvl="1" algn="just">
                  <a:lnSpc>
                    <a:spcPts val="2350"/>
                  </a:lnSpc>
                </a:pPr>
                <a:r>
                  <a:rPr 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Key Driver: Manpower Hours has a 0.918 correlation with the target, proving the tool effectively captures effort intensity.</a:t>
                </a:r>
              </a:p>
            </p:txBody>
          </p:sp>
        </mc:Choice>
        <mc:Fallback xmlns="">
          <p:sp>
            <p:nvSpPr>
              <p:cNvPr id="12" name="Text 2">
                <a:extLst>
                  <a:ext uri="{FF2B5EF4-FFF2-40B4-BE49-F238E27FC236}">
                    <a16:creationId xmlns:a16="http://schemas.microsoft.com/office/drawing/2014/main" id="{BC5331F9-E71F-E33E-B269-582780C2D7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20" y="1905998"/>
                <a:ext cx="8448040" cy="1294402"/>
              </a:xfrm>
              <a:prstGeom prst="rect">
                <a:avLst/>
              </a:prstGeom>
              <a:blipFill>
                <a:blip r:embed="rId4"/>
                <a:stretch>
                  <a:fillRect t="-3883" r="-150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69489B5-3951-22A7-312C-8E20147F4DAE}"/>
              </a:ext>
            </a:extLst>
          </p:cNvPr>
          <p:cNvSpPr txBox="1"/>
          <p:nvPr/>
        </p:nvSpPr>
        <p:spPr>
          <a:xfrm>
            <a:off x="0" y="-2735"/>
            <a:ext cx="100540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RQ: </a:t>
            </a:r>
            <a:r>
              <a:rPr lang="ru-RU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PK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F2105C9-468D-246E-1EA0-A52DEEC84902}"/>
              </a:ext>
            </a:extLst>
          </p:cNvPr>
          <p:cNvSpPr/>
          <p:nvPr/>
        </p:nvSpPr>
        <p:spPr>
          <a:xfrm>
            <a:off x="299720" y="3471828"/>
            <a:ext cx="3611880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Activity Type Prediction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2">
                <a:extLst>
                  <a:ext uri="{FF2B5EF4-FFF2-40B4-BE49-F238E27FC236}">
                    <a16:creationId xmlns:a16="http://schemas.microsoft.com/office/drawing/2014/main" id="{46D1CC1C-241E-B29B-B3C6-B6F27CCF5F34}"/>
                  </a:ext>
                </a:extLst>
              </p:cNvPr>
              <p:cNvSpPr/>
              <p:nvPr/>
            </p:nvSpPr>
            <p:spPr>
              <a:xfrm>
                <a:off x="299720" y="3869645"/>
                <a:ext cx="8448040" cy="12944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lvl="1" algn="just">
                  <a:lnSpc>
                    <a:spcPts val="2350"/>
                  </a:lnSpc>
                </a:pPr>
                <a:r>
                  <a:rPr lang="en-US" sz="16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Mechanism</a:t>
                </a:r>
                <a:r>
                  <a:rPr 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: Multi-Task Extension. We don't just predict one number; we predict </a:t>
                </a:r>
                <a:r>
                  <a:rPr lang="ru-RU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11</a:t>
                </a:r>
                <a:r>
                  <a:rPr 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 activity clusters (Hardware, Calibration, Testing, etc.) simultaneously</a:t>
                </a:r>
              </a:p>
              <a:p>
                <a:pPr lvl="1" algn="just">
                  <a:lnSpc>
                    <a:spcPts val="2350"/>
                  </a:lnSpc>
                </a:pPr>
                <a:r>
                  <a:rPr lang="en-US" sz="16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Consistency Loss: </a:t>
                </a:r>
                <a:r>
                  <a:rPr 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The model ensures that the sum of all activities equals the total project cost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Inter" pitchFamily="34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Inter" pitchFamily="34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Inter" pitchFamily="34" charset="-122"/>
                                <a:cs typeface="Arial" panose="020B0604020202020204" pitchFamily="34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sz="160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Inter" pitchFamily="34" charset="-122"/>
                                <a:cs typeface="Arial" panose="020B0604020202020204" pitchFamily="34" charset="0"/>
                              </a:rPr>
                              <m:t>𝒸ℴ𝓃𝓈</m:t>
                            </m:r>
                          </m:sub>
                        </m:sSub>
                        <m:r>
                          <a:rPr lang="en-US" sz="16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Inter" pitchFamily="34" charset="-122"/>
                            <a:cs typeface="Arial" panose="020B0604020202020204" pitchFamily="34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60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Inter" pitchFamily="34" charset="-122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60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∑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Inter" pitchFamily="34" charset="-122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Inter" pitchFamily="34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Inter" pitchFamily="34" charset="-122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Inter" pitchFamily="34" charset="-122"/>
                                        <a:cs typeface="Arial" panose="020B0604020202020204" pitchFamily="34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sz="160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Inter" pitchFamily="34" charset="-122"/>
                                <a:cs typeface="Arial" panose="020B0604020202020204" pitchFamily="34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Inter" pitchFamily="34" charset="-122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Inter" pitchFamily="34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Inter" pitchFamily="34" charset="-122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Inter" pitchFamily="34" charset="-122"/>
                                        <a:cs typeface="Arial" panose="020B0604020202020204" pitchFamily="34" charset="0"/>
                                      </a:rPr>
                                      <m:t>𝑡𝑜𝑡𝑎𝑙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d>
                    <m:r>
                      <a:rPr lang="en-US" sz="16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Inter" pitchFamily="34" charset="-122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US" sz="1600" dirty="0">
                  <a:solidFill>
                    <a:schemeClr val="tx2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 2">
                <a:extLst>
                  <a:ext uri="{FF2B5EF4-FFF2-40B4-BE49-F238E27FC236}">
                    <a16:creationId xmlns:a16="http://schemas.microsoft.com/office/drawing/2014/main" id="{46D1CC1C-241E-B29B-B3C6-B6F27CCF5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20" y="3869645"/>
                <a:ext cx="8448040" cy="1294402"/>
              </a:xfrm>
              <a:prstGeom prst="rect">
                <a:avLst/>
              </a:prstGeom>
              <a:blipFill>
                <a:blip r:embed="rId5"/>
                <a:stretch>
                  <a:fillRect t="-2913" r="-1502" b="-1942"/>
                </a:stretch>
              </a:blipFill>
              <a:ln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5500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EE9A2-AAF1-B393-B6E4-83CC1EEF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A6DE46-622E-F171-9B89-A8C46AD2F58A}"/>
              </a:ext>
            </a:extLst>
          </p:cNvPr>
          <p:cNvSpPr/>
          <p:nvPr/>
        </p:nvSpPr>
        <p:spPr>
          <a:xfrm>
            <a:off x="86360" y="205609"/>
            <a:ext cx="8971280" cy="1122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Methodology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Core Algorithm: Hierarchical Conformal Quantile Ensemble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FB3A15-8F22-AD10-7F33-0FEFA29C1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black and blue logo&#10;&#10;AI-generated content may be incorrect.">
            <a:extLst>
              <a:ext uri="{FF2B5EF4-FFF2-40B4-BE49-F238E27FC236}">
                <a16:creationId xmlns:a16="http://schemas.microsoft.com/office/drawing/2014/main" id="{1D5103F3-5D7D-92FE-23E2-EF40BB4774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9BD6ABB6-E334-EE98-D149-5F014480E267}"/>
              </a:ext>
            </a:extLst>
          </p:cNvPr>
          <p:cNvSpPr/>
          <p:nvPr/>
        </p:nvSpPr>
        <p:spPr>
          <a:xfrm>
            <a:off x="299720" y="1666193"/>
            <a:ext cx="3611880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The Hybrid Formula: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2">
                <a:extLst>
                  <a:ext uri="{FF2B5EF4-FFF2-40B4-BE49-F238E27FC236}">
                    <a16:creationId xmlns:a16="http://schemas.microsoft.com/office/drawing/2014/main" id="{06FDD546-DD87-02C1-7919-3AC8D823BECB}"/>
                  </a:ext>
                </a:extLst>
              </p:cNvPr>
              <p:cNvSpPr/>
              <p:nvPr/>
            </p:nvSpPr>
            <p:spPr>
              <a:xfrm>
                <a:off x="299720" y="2036419"/>
                <a:ext cx="8448040" cy="12944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lvl="1" algn="just">
                  <a:lnSpc>
                    <a:spcPts val="2350"/>
                  </a:lnSpc>
                </a:pPr>
                <a:endParaRPr/>
              </a:p>
            </p:txBody>
          </p:sp>
        </mc:Choice>
        <mc:Fallback xmlns="">
          <p:sp>
            <p:nvSpPr>
              <p:cNvPr id="12" name="Text 2">
                <a:extLst>
                  <a:ext uri="{FF2B5EF4-FFF2-40B4-BE49-F238E27FC236}">
                    <a16:creationId xmlns:a16="http://schemas.microsoft.com/office/drawing/2014/main" id="{06FDD546-DD87-02C1-7919-3AC8D823B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20" y="2036419"/>
                <a:ext cx="8448040" cy="12944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1">
            <a:extLst>
              <a:ext uri="{FF2B5EF4-FFF2-40B4-BE49-F238E27FC236}">
                <a16:creationId xmlns:a16="http://schemas.microsoft.com/office/drawing/2014/main" id="{5611BC77-C602-1FFB-6BBA-BCAC2F6B8526}"/>
              </a:ext>
            </a:extLst>
          </p:cNvPr>
          <p:cNvSpPr/>
          <p:nvPr/>
        </p:nvSpPr>
        <p:spPr>
          <a:xfrm>
            <a:off x="299720" y="3129364"/>
            <a:ext cx="3611880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Components: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2">
                <a:extLst>
                  <a:ext uri="{FF2B5EF4-FFF2-40B4-BE49-F238E27FC236}">
                    <a16:creationId xmlns:a16="http://schemas.microsoft.com/office/drawing/2014/main" id="{A74E3777-5ADD-BF81-FD20-8F4F530E6828}"/>
                  </a:ext>
                </a:extLst>
              </p:cNvPr>
              <p:cNvSpPr/>
              <p:nvPr/>
            </p:nvSpPr>
            <p:spPr>
              <a:xfrm>
                <a:off x="299720" y="3527180"/>
                <a:ext cx="8448040" cy="18707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lvl="1" algn="just">
                  <a:lnSpc>
                    <a:spcPts val="235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lang="en-US" sz="16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6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: </a:t>
                </a:r>
                <a:r>
                  <a:rPr 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Confidence score from the Sizing Classifier.</a:t>
                </a:r>
              </a:p>
              <a:p>
                <a:pPr lvl="1" algn="just">
                  <a:lnSpc>
                    <a:spcPts val="235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Inter" pitchFamily="3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Inter" pitchFamily="34" charset="-122"/>
                            <a:cs typeface="Arial" panose="020B0604020202020204" pitchFamily="34" charset="0"/>
                          </a:rPr>
                          <m:t>𝑸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Inter" pitchFamily="34" charset="-122"/>
                            <a:cs typeface="Arial" panose="020B0604020202020204" pitchFamily="34" charset="0"/>
                          </a:rPr>
                          <m:t>𝒔𝒊𝒛𝒊𝒏𝒈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: </a:t>
                </a:r>
                <a:r>
                  <a:rPr 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Local Quantile Model specialized for the project size (Small/Medium/Large).</a:t>
                </a:r>
              </a:p>
              <a:p>
                <a:pPr lvl="1" algn="just">
                  <a:lnSpc>
                    <a:spcPts val="235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Inter" pitchFamily="34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600" b="1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Inter" pitchFamily="34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Inter" pitchFamily="34" charset="-122"/>
                                <a:cs typeface="Arial" panose="020B0604020202020204" pitchFamily="34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600" b="1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Inter" pitchFamily="34" charset="-122"/>
                                <a:cs typeface="Arial" panose="020B0604020202020204" pitchFamily="34" charset="0"/>
                              </a:rPr>
                              <m:t>𝒆𝒏𝒔𝒆𝒎𝒃𝒍𝒆</m:t>
                            </m:r>
                          </m:sub>
                        </m:sSub>
                      </m:e>
                    </m:acc>
                    <m:r>
                      <a:rPr lang="en-US" sz="16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Inter" pitchFamily="34" charset="-122"/>
                        <a:cs typeface="Arial" panose="020B0604020202020204" pitchFamily="34" charset="0"/>
                      </a:rPr>
                      <m:t>: </m:t>
                    </m:r>
                  </m:oMath>
                </a14:m>
                <a:r>
                  <a:rPr 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Global weighted average of </a:t>
                </a:r>
                <a:r>
                  <a:rPr lang="en-US" sz="1600" dirty="0" err="1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ExtraTrees</a:t>
                </a:r>
                <a:r>
                  <a:rPr 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 &amp; Random Forest.</a:t>
                </a:r>
              </a:p>
              <a:p>
                <a:pPr lvl="1" algn="just">
                  <a:lnSpc>
                    <a:spcPts val="2350"/>
                  </a:lnSpc>
                </a:pPr>
                <a:endParaRPr lang="en-US" sz="1600" dirty="0">
                  <a:solidFill>
                    <a:schemeClr val="tx2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endParaRPr>
              </a:p>
              <a:p>
                <a:pPr lvl="1" algn="just">
                  <a:lnSpc>
                    <a:spcPts val="2350"/>
                  </a:lnSpc>
                </a:pPr>
                <a:r>
                  <a:rPr lang="en-US" sz="16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Why this approach? </a:t>
                </a:r>
                <a:r>
                  <a:rPr lang="en-US" sz="1600" dirty="0">
                    <a:solidFill>
                      <a:schemeClr val="tx2"/>
                    </a:solidFill>
                    <a:latin typeface="Arial" panose="020B0604020202020204" pitchFamily="34" charset="0"/>
                    <a:ea typeface="Inter" pitchFamily="34" charset="-122"/>
                    <a:cs typeface="Arial" panose="020B0604020202020204" pitchFamily="34" charset="0"/>
                  </a:rPr>
                  <a:t>It dynamically balances local expertise with global stability.</a:t>
                </a:r>
              </a:p>
            </p:txBody>
          </p:sp>
        </mc:Choice>
        <mc:Fallback xmlns="">
          <p:sp>
            <p:nvSpPr>
              <p:cNvPr id="7" name="Text 2">
                <a:extLst>
                  <a:ext uri="{FF2B5EF4-FFF2-40B4-BE49-F238E27FC236}">
                    <a16:creationId xmlns:a16="http://schemas.microsoft.com/office/drawing/2014/main" id="{A74E3777-5ADD-BF81-FD20-8F4F530E68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20" y="3527180"/>
                <a:ext cx="8448040" cy="1870756"/>
              </a:xfrm>
              <a:prstGeom prst="rect">
                <a:avLst/>
              </a:prstGeom>
              <a:blipFill>
                <a:blip r:embed="rId5"/>
                <a:stretch>
                  <a:fillRect t="-202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1DE7067-FFB7-5BE1-9C5F-61346F6F7B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8500" y="2181760"/>
            <a:ext cx="5207000" cy="660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C28869-EBB4-AC83-7644-89E6A274ADD9}"/>
              </a:ext>
            </a:extLst>
          </p:cNvPr>
          <p:cNvSpPr txBox="1"/>
          <p:nvPr/>
        </p:nvSpPr>
        <p:spPr>
          <a:xfrm>
            <a:off x="0" y="-2735"/>
            <a:ext cx="100540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RQ: </a:t>
            </a:r>
            <a:r>
              <a:rPr lang="ru-RU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49354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D7D2A-F942-5F2A-A34C-1D01877E1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Rectangle 2065">
            <a:extLst>
              <a:ext uri="{FF2B5EF4-FFF2-40B4-BE49-F238E27FC236}">
                <a16:creationId xmlns:a16="http://schemas.microsoft.com/office/drawing/2014/main" id="{0994E657-5803-3AE6-A8E2-FB76E5426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of a network&#10;&#10;AI-generated content may be incorrect.">
            <a:extLst>
              <a:ext uri="{FF2B5EF4-FFF2-40B4-BE49-F238E27FC236}">
                <a16:creationId xmlns:a16="http://schemas.microsoft.com/office/drawing/2014/main" id="{4EF96B1E-60BE-078A-38C9-4356268417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5614" r="20070" b="-1"/>
          <a:stretch>
            <a:fillRect/>
          </a:stretch>
        </p:blipFill>
        <p:spPr>
          <a:xfrm>
            <a:off x="20" y="10"/>
            <a:ext cx="914169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AC74B2-797D-0245-37B6-2ECB4D96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857" y="1027596"/>
            <a:ext cx="6858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b="1" dirty="0">
                <a:solidFill>
                  <a:schemeClr val="bg1"/>
                </a:solidFill>
              </a:rPr>
              <a:t>Model Benchmarks</a:t>
            </a:r>
          </a:p>
        </p:txBody>
      </p:sp>
      <p:sp>
        <p:nvSpPr>
          <p:cNvPr id="2071" name="sketchy line">
            <a:extLst>
              <a:ext uri="{FF2B5EF4-FFF2-40B4-BE49-F238E27FC236}">
                <a16:creationId xmlns:a16="http://schemas.microsoft.com/office/drawing/2014/main" id="{68641BE1-B41C-C9FB-8D5B-18DC39B89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368623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63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00CB-B90C-6A64-BF8B-49E51741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F4A84-216B-DB5F-5759-59380D5BA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9534"/>
            <a:ext cx="8229600" cy="1293186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Benchmarking: R&amp;D Effort Prediction (Hours)</a:t>
            </a:r>
            <a:endParaRPr sz="36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 descr="A black and blue logo&#10;&#10;AI-generated content may be incorrect.">
            <a:extLst>
              <a:ext uri="{FF2B5EF4-FFF2-40B4-BE49-F238E27FC236}">
                <a16:creationId xmlns:a16="http://schemas.microsoft.com/office/drawing/2014/main" id="{2A9DC133-AA1C-9E1C-6C27-2CEFF7521D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3CBFF9A-5D09-B101-BBDD-421E8D832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3E057-3974-2551-64DE-D0D653238127}"/>
              </a:ext>
            </a:extLst>
          </p:cNvPr>
          <p:cNvSpPr txBox="1"/>
          <p:nvPr/>
        </p:nvSpPr>
        <p:spPr>
          <a:xfrm>
            <a:off x="3230880" y="24282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E2CAF9-854C-A458-3AE8-E4BF0EE18DBA}"/>
                  </a:ext>
                </a:extLst>
              </p:cNvPr>
              <p:cNvSpPr txBox="1"/>
              <p:nvPr/>
            </p:nvSpPr>
            <p:spPr>
              <a:xfrm>
                <a:off x="457200" y="1449612"/>
                <a:ext cx="8148320" cy="1979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Evaluation Metric: </a:t>
                </a:r>
                <a:r>
                  <a:rPr lang="en-US" sz="1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primary validation target was Manpower Hours, as it serves as the core driver for total R&amp;D cost</a:t>
                </a:r>
              </a:p>
              <a:p>
                <a:pPr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Goodness of Fit: </a:t>
                </a:r>
                <a:r>
                  <a:rPr lang="en-US" sz="1400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The proposed HCQE architecture demonstrates superior fit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4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=0.92) compared to linear baselines (Linear Regression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=0.48), proving that hierarchical modeling is necessary for this dataset</a:t>
                </a:r>
              </a:p>
              <a:p>
                <a:pPr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Operational Reliability: </a:t>
                </a:r>
                <a:r>
                  <a:rPr lang="en-US" sz="1400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In terms of "Ballpark" usability, the model provides a usable estimate (within 30% deviation) in 69.7% of test cases, whereas traditional regression models fail to reach 40% accuracy in this range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E2CAF9-854C-A458-3AE8-E4BF0EE18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49612"/>
                <a:ext cx="8148320" cy="1979388"/>
              </a:xfrm>
              <a:prstGeom prst="rect">
                <a:avLst/>
              </a:prstGeom>
              <a:blipFill>
                <a:blip r:embed="rId5"/>
                <a:stretch>
                  <a:fillRect l="-312" t="-637" r="-312" b="-1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130D0CC-92AB-0511-F9FA-C9F18E03FEA5}"/>
              </a:ext>
            </a:extLst>
          </p:cNvPr>
          <p:cNvSpPr txBox="1"/>
          <p:nvPr/>
        </p:nvSpPr>
        <p:spPr>
          <a:xfrm>
            <a:off x="0" y="-2735"/>
            <a:ext cx="800219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RQ: </a:t>
            </a:r>
            <a:r>
              <a:rPr lang="ru-RU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PK" dirty="0"/>
          </a:p>
        </p:txBody>
      </p:sp>
      <p:pic>
        <p:nvPicPr>
          <p:cNvPr id="5" name="Picture 4" descr="A table with numbers and a number of people&#10;&#10;AI-generated content may be incorrect.">
            <a:extLst>
              <a:ext uri="{FF2B5EF4-FFF2-40B4-BE49-F238E27FC236}">
                <a16:creationId xmlns:a16="http://schemas.microsoft.com/office/drawing/2014/main" id="{D1813401-0F07-0DE4-4CD3-985A15FC9B8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264" b="14639"/>
          <a:stretch>
            <a:fillRect/>
          </a:stretch>
        </p:blipFill>
        <p:spPr>
          <a:xfrm>
            <a:off x="554383" y="3384607"/>
            <a:ext cx="7772400" cy="252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435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A7A54-6A45-89A4-E236-209125A35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95628-3A26-6599-9031-0156494DB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0" y="116343"/>
            <a:ext cx="8229600" cy="1122132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Benchmarking: R&amp;D Effort Prediction (Price)</a:t>
            </a:r>
            <a:endParaRPr sz="36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 descr="A black and blue logo&#10;&#10;AI-generated content may be incorrect.">
            <a:extLst>
              <a:ext uri="{FF2B5EF4-FFF2-40B4-BE49-F238E27FC236}">
                <a16:creationId xmlns:a16="http://schemas.microsoft.com/office/drawing/2014/main" id="{C2D4C327-7D4A-1CA4-87D9-354C12918D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D83BFFF-2FF7-32AA-812C-8C80CF710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C83FCA-A27E-FE2E-0E4C-B1365E816346}"/>
                  </a:ext>
                </a:extLst>
              </p:cNvPr>
              <p:cNvSpPr txBox="1"/>
              <p:nvPr/>
            </p:nvSpPr>
            <p:spPr>
              <a:xfrm>
                <a:off x="457200" y="1271666"/>
                <a:ext cx="8636000" cy="9069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Baseline:</a:t>
                </a:r>
                <a:r>
                  <a:rPr lang="en-US" sz="1400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Linear Regression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= 0.</a:t>
                </a:r>
                <a:r>
                  <a:rPr lang="ru-RU" sz="1400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81</a:t>
                </a:r>
                <a:r>
                  <a:rPr lang="en-US" sz="1400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) — </a:t>
                </a:r>
                <a:r>
                  <a:rPr lang="en-US" sz="1400" i="1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Good baseline, stable performance.</a:t>
                </a:r>
                <a:endParaRPr lang="en-US" sz="1400" dirty="0"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Iteration 2:</a:t>
                </a:r>
                <a:r>
                  <a:rPr lang="en-US" sz="1400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Random Forest </a:t>
                </a:r>
                <a:r>
                  <a:rPr lang="en-US" sz="1400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= 0.89) — </a:t>
                </a:r>
                <a:r>
                  <a:rPr lang="en-US" sz="1400" i="1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Tried boosting, but performance dropped slightly.</a:t>
                </a:r>
                <a:endParaRPr lang="en-US" sz="1400" dirty="0"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Final (HCQE):</a:t>
                </a:r>
                <a:r>
                  <a:rPr lang="en-US" sz="1400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Ensemble + Decomposition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1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= 0.</a:t>
                </a:r>
                <a:r>
                  <a:rPr lang="ru-RU" sz="1400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88</a:t>
                </a:r>
                <a:r>
                  <a:rPr lang="en-US" sz="1400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) — </a:t>
                </a:r>
                <a:r>
                  <a:rPr lang="en-US" sz="1400" i="1" dirty="0">
                    <a:solidFill>
                      <a:schemeClr val="tx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High accuracy achieved (Ours).</a:t>
                </a:r>
                <a:endParaRPr lang="en-US" sz="1400" dirty="0">
                  <a:solidFill>
                    <a:schemeClr val="tx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C83FCA-A27E-FE2E-0E4C-B1365E816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1666"/>
                <a:ext cx="8636000" cy="906980"/>
              </a:xfrm>
              <a:prstGeom prst="rect">
                <a:avLst/>
              </a:prstGeom>
              <a:blipFill>
                <a:blip r:embed="rId4"/>
                <a:stretch>
                  <a:fillRect l="-147" t="-1389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table with numbers and percentages&#10;&#10;AI-generated content may be incorrect.">
            <a:extLst>
              <a:ext uri="{FF2B5EF4-FFF2-40B4-BE49-F238E27FC236}">
                <a16:creationId xmlns:a16="http://schemas.microsoft.com/office/drawing/2014/main" id="{EB2B7316-D5EA-5FBB-BA2B-75B8FEE33D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489" b="14130"/>
          <a:stretch>
            <a:fillRect/>
          </a:stretch>
        </p:blipFill>
        <p:spPr>
          <a:xfrm>
            <a:off x="357808" y="2406014"/>
            <a:ext cx="8428383" cy="29747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88999C-75F0-58AF-4C58-CEACAE7CBD22}"/>
              </a:ext>
            </a:extLst>
          </p:cNvPr>
          <p:cNvSpPr txBox="1"/>
          <p:nvPr/>
        </p:nvSpPr>
        <p:spPr>
          <a:xfrm>
            <a:off x="0" y="-2735"/>
            <a:ext cx="800219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RQ: </a:t>
            </a:r>
            <a:r>
              <a:rPr lang="ru-RU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37950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20B1D-0871-B65B-4425-3687E78E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>
            <a:extLst>
              <a:ext uri="{FF2B5EF4-FFF2-40B4-BE49-F238E27FC236}">
                <a16:creationId xmlns:a16="http://schemas.microsoft.com/office/drawing/2014/main" id="{D3A36321-E94B-CCAF-84C2-825E4734287B}"/>
              </a:ext>
            </a:extLst>
          </p:cNvPr>
          <p:cNvSpPr/>
          <p:nvPr/>
        </p:nvSpPr>
        <p:spPr>
          <a:xfrm>
            <a:off x="4572000" y="254001"/>
            <a:ext cx="447040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Comprehensive </a:t>
            </a:r>
          </a:p>
          <a:p>
            <a:pPr marL="0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Output: The Excel Report</a:t>
            </a:r>
          </a:p>
        </p:txBody>
      </p:sp>
      <p:sp>
        <p:nvSpPr>
          <p:cNvPr id="67" name="Text 1">
            <a:extLst>
              <a:ext uri="{FF2B5EF4-FFF2-40B4-BE49-F238E27FC236}">
                <a16:creationId xmlns:a16="http://schemas.microsoft.com/office/drawing/2014/main" id="{696F3D82-72FB-7300-3E63-C04C561BDFB5}"/>
              </a:ext>
            </a:extLst>
          </p:cNvPr>
          <p:cNvSpPr/>
          <p:nvPr/>
        </p:nvSpPr>
        <p:spPr>
          <a:xfrm>
            <a:off x="4777284" y="1413545"/>
            <a:ext cx="4001648" cy="873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The final output of our AI-Based Ballpark Quotation Tool is a detailed, user-friendly Excel report, designed to provide comprehensive insights briefly.</a:t>
            </a:r>
            <a:endParaRPr lang="en-US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Shape 3">
            <a:extLst>
              <a:ext uri="{FF2B5EF4-FFF2-40B4-BE49-F238E27FC236}">
                <a16:creationId xmlns:a16="http://schemas.microsoft.com/office/drawing/2014/main" id="{D0CF350E-684F-E3D7-9AA9-7F4A9021F2DA}"/>
              </a:ext>
            </a:extLst>
          </p:cNvPr>
          <p:cNvSpPr/>
          <p:nvPr/>
        </p:nvSpPr>
        <p:spPr>
          <a:xfrm>
            <a:off x="4572000" y="2720716"/>
            <a:ext cx="2032000" cy="1416567"/>
          </a:xfrm>
          <a:prstGeom prst="roundRect">
            <a:avLst>
              <a:gd name="adj" fmla="val 343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">
            <a:extLst>
              <a:ext uri="{FF2B5EF4-FFF2-40B4-BE49-F238E27FC236}">
                <a16:creationId xmlns:a16="http://schemas.microsoft.com/office/drawing/2014/main" id="{94BDAC54-5A67-AF35-9B6F-B0F7E6CB35DA}"/>
              </a:ext>
            </a:extLst>
          </p:cNvPr>
          <p:cNvSpPr/>
          <p:nvPr/>
        </p:nvSpPr>
        <p:spPr>
          <a:xfrm>
            <a:off x="6952219" y="2735207"/>
            <a:ext cx="2032000" cy="1416567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10">
            <a:extLst>
              <a:ext uri="{FF2B5EF4-FFF2-40B4-BE49-F238E27FC236}">
                <a16:creationId xmlns:a16="http://schemas.microsoft.com/office/drawing/2014/main" id="{D05DB143-45C8-38A8-1613-66083CD11538}"/>
              </a:ext>
            </a:extLst>
          </p:cNvPr>
          <p:cNvSpPr/>
          <p:nvPr/>
        </p:nvSpPr>
        <p:spPr>
          <a:xfrm>
            <a:off x="4572000" y="4281644"/>
            <a:ext cx="4412219" cy="151384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pPr algn="ctr">
              <a:lnSpc>
                <a:spcPts val="2600"/>
              </a:lnSpc>
            </a:pPr>
            <a:r>
              <a:rPr lang="en-US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Confidence Intervals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99F8C416-DD81-7326-7F17-D38702CB93F7}"/>
              </a:ext>
            </a:extLst>
          </p:cNvPr>
          <p:cNvSpPr/>
          <p:nvPr/>
        </p:nvSpPr>
        <p:spPr>
          <a:xfrm>
            <a:off x="4754880" y="3220538"/>
            <a:ext cx="1666240" cy="416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Executive Summary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17442430-B987-173C-4676-A5157DDCB04D}"/>
              </a:ext>
            </a:extLst>
          </p:cNvPr>
          <p:cNvSpPr/>
          <p:nvPr/>
        </p:nvSpPr>
        <p:spPr>
          <a:xfrm>
            <a:off x="7042467" y="3165208"/>
            <a:ext cx="1880792" cy="351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Detailed Cost Breakdown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3" name="Text 13">
            <a:extLst>
              <a:ext uri="{FF2B5EF4-FFF2-40B4-BE49-F238E27FC236}">
                <a16:creationId xmlns:a16="http://schemas.microsoft.com/office/drawing/2014/main" id="{3B49D29B-E69F-F98F-B8E1-C3DEBB217416}"/>
              </a:ext>
            </a:extLst>
          </p:cNvPr>
          <p:cNvSpPr/>
          <p:nvPr/>
        </p:nvSpPr>
        <p:spPr>
          <a:xfrm>
            <a:off x="4710548" y="4933761"/>
            <a:ext cx="4135121" cy="428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Clearly defined confidence levels for the estimation, providing a realistic range and aiding in strategic decision-making.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3" name="Picture 2" descr="A close-up of a paper&#10;&#10;AI-generated content may be incorrect.">
            <a:extLst>
              <a:ext uri="{FF2B5EF4-FFF2-40B4-BE49-F238E27FC236}">
                <a16:creationId xmlns:a16="http://schemas.microsoft.com/office/drawing/2014/main" id="{D0185651-A077-7F34-3962-C07E63D2FC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633" b="7342"/>
          <a:stretch>
            <a:fillRect/>
          </a:stretch>
        </p:blipFill>
        <p:spPr>
          <a:xfrm>
            <a:off x="-1" y="1"/>
            <a:ext cx="436671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792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5DD7D-C47A-7C44-9ADA-82F3EA4F8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3091E-77CC-2706-11D6-1308B90C5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9534"/>
            <a:ext cx="8229600" cy="1293186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 Demo</a:t>
            </a:r>
          </a:p>
        </p:txBody>
      </p:sp>
      <p:pic>
        <p:nvPicPr>
          <p:cNvPr id="18" name="Picture 17" descr="A black and blue logo&#10;&#10;AI-generated content may be incorrect.">
            <a:extLst>
              <a:ext uri="{FF2B5EF4-FFF2-40B4-BE49-F238E27FC236}">
                <a16:creationId xmlns:a16="http://schemas.microsoft.com/office/drawing/2014/main" id="{A59E9E29-C5AB-7C63-8029-48118BF71E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6F50E2-BA90-125F-A4E2-A00F26BD9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47A633-F56D-84FC-3B39-88AB95EDFCE8}"/>
              </a:ext>
            </a:extLst>
          </p:cNvPr>
          <p:cNvSpPr txBox="1"/>
          <p:nvPr/>
        </p:nvSpPr>
        <p:spPr>
          <a:xfrm>
            <a:off x="3230880" y="24282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90A07B-A3DF-E1CF-7DE9-42E50DADE66B}"/>
              </a:ext>
            </a:extLst>
          </p:cNvPr>
          <p:cNvSpPr txBox="1"/>
          <p:nvPr/>
        </p:nvSpPr>
        <p:spPr>
          <a:xfrm>
            <a:off x="457200" y="1305341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Video here</a:t>
            </a:r>
          </a:p>
        </p:txBody>
      </p:sp>
    </p:spTree>
    <p:extLst>
      <p:ext uri="{BB962C8B-B14F-4D97-AF65-F5344CB8AC3E}">
        <p14:creationId xmlns:p14="http://schemas.microsoft.com/office/powerpoint/2010/main" val="28313264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0047F-32A0-23BC-5F3C-3258209FC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D8C3F-E8CD-9747-B802-AD96A5DEE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9534"/>
            <a:ext cx="8229600" cy="1293186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pic>
        <p:nvPicPr>
          <p:cNvPr id="18" name="Picture 17" descr="A black and blue logo&#10;&#10;AI-generated content may be incorrect.">
            <a:extLst>
              <a:ext uri="{FF2B5EF4-FFF2-40B4-BE49-F238E27FC236}">
                <a16:creationId xmlns:a16="http://schemas.microsoft.com/office/drawing/2014/main" id="{39B29FA6-E152-4FAA-54A8-A524C2D728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1E6BC6D-B569-33DA-72A5-52889C5A3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4593F6-4564-311D-A8EA-78F3038A3C8C}"/>
              </a:ext>
            </a:extLst>
          </p:cNvPr>
          <p:cNvSpPr txBox="1"/>
          <p:nvPr/>
        </p:nvSpPr>
        <p:spPr>
          <a:xfrm>
            <a:off x="3230880" y="24282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4E3EC-02B5-C86C-804C-7C01D60F2707}"/>
              </a:ext>
            </a:extLst>
          </p:cNvPr>
          <p:cNvSpPr txBox="1"/>
          <p:nvPr/>
        </p:nvSpPr>
        <p:spPr>
          <a:xfrm>
            <a:off x="457200" y="1305341"/>
            <a:ext cx="8229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2"/>
                </a:solidFill>
              </a:rPr>
              <a:t>Objective:</a:t>
            </a:r>
          </a:p>
          <a:p>
            <a:r>
              <a:rPr lang="en-GB" dirty="0">
                <a:solidFill>
                  <a:schemeClr val="tx2"/>
                </a:solidFill>
              </a:rPr>
              <a:t>This project aimed to support early-stage R&amp;D quotation at IVECO Group by enabling faster and more consistent ballpark cost estimations from semi-structured Product Requests.</a:t>
            </a:r>
            <a:br>
              <a:rPr lang="en-GB" dirty="0">
                <a:solidFill>
                  <a:schemeClr val="tx2"/>
                </a:solidFill>
              </a:rPr>
            </a:br>
            <a:endParaRPr lang="en-GB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2"/>
                </a:solidFill>
              </a:rPr>
              <a:t>Method:</a:t>
            </a:r>
          </a:p>
          <a:p>
            <a:r>
              <a:rPr lang="en-GB" dirty="0">
                <a:solidFill>
                  <a:schemeClr val="tx2"/>
                </a:solidFill>
              </a:rPr>
              <a:t>A hybrid pipeline combining LLM-based feature extraction, a hierarchical predictive model for effort and cost estimation, and a retrieval-augmented mechanism for contextual justification was designed and evaluated.</a:t>
            </a:r>
            <a:br>
              <a:rPr lang="en-GB" dirty="0">
                <a:solidFill>
                  <a:schemeClr val="tx2"/>
                </a:solidFill>
              </a:rPr>
            </a:br>
            <a:endParaRPr lang="en-GB" b="1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2"/>
                </a:solidFill>
              </a:rPr>
              <a:t>Effectiveness:</a:t>
            </a:r>
          </a:p>
          <a:p>
            <a:r>
              <a:rPr lang="en-GB" dirty="0">
                <a:solidFill>
                  <a:schemeClr val="tx2"/>
                </a:solidFill>
              </a:rPr>
              <a:t>Experimental results on historical PR–Offer data show that the proposed approach can estimate R&amp;D effort and cost with measurable accuracy while improving consistency and explainability compared to fully manual processes.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25204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26B085B-F624-72F2-03E5-266666728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object 2">
            <a:extLst>
              <a:ext uri="{FF2B5EF4-FFF2-40B4-BE49-F238E27FC236}">
                <a16:creationId xmlns:a16="http://schemas.microsoft.com/office/drawing/2014/main" id="{0BC7D394-1ACF-9328-69EE-7E3067A01925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9144000" cy="5143500"/>
          </a:xfrm>
        </p:grpSpPr>
        <p:pic>
          <p:nvPicPr>
            <p:cNvPr id="8" name="object 3">
              <a:extLst>
                <a:ext uri="{FF2B5EF4-FFF2-40B4-BE49-F238E27FC236}">
                  <a16:creationId xmlns:a16="http://schemas.microsoft.com/office/drawing/2014/main" id="{28305400-44A8-134B-EB67-3DF29798FB4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8D3A08D4-2146-0AAA-875B-E7861BE0CB4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4813" y="4229813"/>
              <a:ext cx="2647390" cy="567535"/>
            </a:xfrm>
            <a:prstGeom prst="rect">
              <a:avLst/>
            </a:prstGeom>
          </p:spPr>
        </p:pic>
      </p:grpSp>
      <p:sp>
        <p:nvSpPr>
          <p:cNvPr id="10" name="object 5">
            <a:extLst>
              <a:ext uri="{FF2B5EF4-FFF2-40B4-BE49-F238E27FC236}">
                <a16:creationId xmlns:a16="http://schemas.microsoft.com/office/drawing/2014/main" id="{A0E84EFD-78C0-3BED-8157-EA26C939D001}"/>
              </a:ext>
            </a:extLst>
          </p:cNvPr>
          <p:cNvSpPr txBox="1">
            <a:spLocks/>
          </p:cNvSpPr>
          <p:nvPr/>
        </p:nvSpPr>
        <p:spPr>
          <a:xfrm>
            <a:off x="5303852" y="3010587"/>
            <a:ext cx="3498351" cy="75148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800" spc="-28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</a:t>
            </a:r>
            <a:r>
              <a:rPr lang="en-US" sz="4800" spc="-36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spc="-1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3754</TotalTime>
  <Words>1184</Words>
  <Application>Microsoft Macintosh PowerPoint</Application>
  <PresentationFormat>On-screen Show (4:3)</PresentationFormat>
  <Paragraphs>144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Calibri</vt:lpstr>
      <vt:lpstr>Cambria Math</vt:lpstr>
      <vt:lpstr>Inter</vt:lpstr>
      <vt:lpstr>Petrona Bold</vt:lpstr>
      <vt:lpstr>Office Theme</vt:lpstr>
      <vt:lpstr>AI-Based Ballpark Quotation Tool</vt:lpstr>
      <vt:lpstr>Table of Contents</vt:lpstr>
      <vt:lpstr>CHALLANGE &amp; PROJECT OBJECTIVE</vt:lpstr>
      <vt:lpstr>IVECO Group</vt:lpstr>
      <vt:lpstr>Problem Statement</vt:lpstr>
      <vt:lpstr>Product Request Input: Excel File</vt:lpstr>
      <vt:lpstr>Project Objective</vt:lpstr>
      <vt:lpstr>Proposed Quote  Function Level R&amp;D</vt:lpstr>
      <vt:lpstr>Value Proposition</vt:lpstr>
      <vt:lpstr>Sustainable Development Goal</vt:lpstr>
      <vt:lpstr>PowerPoint Presentation</vt:lpstr>
      <vt:lpstr>RESEARCH QUESTIONS</vt:lpstr>
      <vt:lpstr>Research Questions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Benchmarks</vt:lpstr>
      <vt:lpstr>Model Benchmarking: R&amp;D Effort Prediction (Hours)</vt:lpstr>
      <vt:lpstr>Model Benchmarking: R&amp;D Effort Prediction (Price)</vt:lpstr>
      <vt:lpstr>PowerPoint Presentation</vt:lpstr>
      <vt:lpstr>Live Demo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TEMUR KUCHKOROV</cp:lastModifiedBy>
  <cp:revision>49</cp:revision>
  <dcterms:created xsi:type="dcterms:W3CDTF">2013-01-27T09:14:16Z</dcterms:created>
  <dcterms:modified xsi:type="dcterms:W3CDTF">2026-01-20T22:38:53Z</dcterms:modified>
  <cp:category/>
</cp:coreProperties>
</file>