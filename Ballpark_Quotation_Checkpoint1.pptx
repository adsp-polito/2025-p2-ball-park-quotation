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82" r:id="rId4"/>
    <p:sldId id="280" r:id="rId5"/>
    <p:sldId id="258" r:id="rId6"/>
    <p:sldId id="259" r:id="rId7"/>
    <p:sldId id="281" r:id="rId8"/>
    <p:sldId id="276" r:id="rId9"/>
    <p:sldId id="277" r:id="rId10"/>
    <p:sldId id="278" r:id="rId11"/>
    <p:sldId id="263" r:id="rId12"/>
    <p:sldId id="279" r:id="rId13"/>
    <p:sldId id="283" r:id="rId14"/>
    <p:sldId id="266" r:id="rId15"/>
    <p:sldId id="284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/>
    <p:restoredTop sz="92204"/>
  </p:normalViewPr>
  <p:slideViewPr>
    <p:cSldViewPr snapToGrid="0" snapToObjects="1">
      <p:cViewPr varScale="1">
        <p:scale>
          <a:sx n="125" d="100"/>
          <a:sy n="125" d="100"/>
        </p:scale>
        <p:origin x="133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B8D764-6318-9547-9778-50E9BD9132EA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89CC4121-28E5-C54D-80EE-F4FB79E938DA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Data Foundation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67C44C-9205-F244-BD78-E65A1506B6E7}" type="parTrans" cxnId="{F4547777-7CE5-2E4C-9941-E879BF61D837}">
      <dgm:prSet/>
      <dgm:spPr/>
      <dgm:t>
        <a:bodyPr/>
        <a:lstStyle/>
        <a:p>
          <a:endParaRPr lang="en-US"/>
        </a:p>
      </dgm:t>
    </dgm:pt>
    <dgm:pt modelId="{5290C244-FD8C-9746-AAFE-9AAAAC6EDF6B}" type="sibTrans" cxnId="{F4547777-7CE5-2E4C-9941-E879BF61D837}">
      <dgm:prSet/>
      <dgm:spPr/>
      <dgm:t>
        <a:bodyPr/>
        <a:lstStyle/>
        <a:p>
          <a:endParaRPr lang="en-US"/>
        </a:p>
      </dgm:t>
    </dgm:pt>
    <dgm:pt modelId="{1B34C440-F072-A445-B111-758FA4DF54D0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Modeling Strategy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91063B-5D28-6D41-B000-1F147573AA46}" type="parTrans" cxnId="{8BCF2741-90B0-0D42-97DB-ACBFBECFA239}">
      <dgm:prSet/>
      <dgm:spPr/>
      <dgm:t>
        <a:bodyPr/>
        <a:lstStyle/>
        <a:p>
          <a:endParaRPr lang="en-US"/>
        </a:p>
      </dgm:t>
    </dgm:pt>
    <dgm:pt modelId="{1F7153C7-2FAE-D341-AE7B-C373B56AB238}" type="sibTrans" cxnId="{8BCF2741-90B0-0D42-97DB-ACBFBECFA239}">
      <dgm:prSet/>
      <dgm:spPr/>
      <dgm:t>
        <a:bodyPr/>
        <a:lstStyle/>
        <a:p>
          <a:endParaRPr lang="en-US"/>
        </a:p>
      </dgm:t>
    </dgm:pt>
    <dgm:pt modelId="{4173D17B-5D2D-0140-B1EF-F83BF8A86C34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Decision Support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A46B0D-F7E5-434A-A45D-9DABCBEEF33E}" type="parTrans" cxnId="{48A0134B-901F-DA48-AFAF-FAD7C97EC862}">
      <dgm:prSet/>
      <dgm:spPr/>
      <dgm:t>
        <a:bodyPr/>
        <a:lstStyle/>
        <a:p>
          <a:endParaRPr lang="en-US"/>
        </a:p>
      </dgm:t>
    </dgm:pt>
    <dgm:pt modelId="{66E47559-BB65-CD49-BAFD-BB7F13E98475}" type="sibTrans" cxnId="{48A0134B-901F-DA48-AFAF-FAD7C97EC862}">
      <dgm:prSet/>
      <dgm:spPr/>
      <dgm:t>
        <a:bodyPr/>
        <a:lstStyle/>
        <a:p>
          <a:endParaRPr lang="en-US"/>
        </a:p>
      </dgm:t>
    </dgm:pt>
    <dgm:pt modelId="{427D3F47-435F-7A43-A6F2-64FE97F946C7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Consolidating historical PRs &amp; Offers.</a:t>
          </a:r>
        </a:p>
      </dgm:t>
    </dgm:pt>
    <dgm:pt modelId="{81D2F86E-55B2-044C-B63A-72C40DE8C32B}" type="parTrans" cxnId="{A5EDF23A-D7D0-3049-A1CA-42302A406E06}">
      <dgm:prSet/>
      <dgm:spPr/>
      <dgm:t>
        <a:bodyPr/>
        <a:lstStyle/>
        <a:p>
          <a:endParaRPr lang="en-US"/>
        </a:p>
      </dgm:t>
    </dgm:pt>
    <dgm:pt modelId="{43AE4ED8-D988-984C-AB63-ED8DA8DE1DC3}" type="sibTrans" cxnId="{A5EDF23A-D7D0-3049-A1CA-42302A406E06}">
      <dgm:prSet/>
      <dgm:spPr/>
      <dgm:t>
        <a:bodyPr/>
        <a:lstStyle/>
        <a:p>
          <a:endParaRPr lang="en-US"/>
        </a:p>
      </dgm:t>
    </dgm:pt>
    <dgm:pt modelId="{6E5F5BD6-F78D-DD40-8D61-CEBE3A13B7C3}">
      <dgm:prSet phldrT="[Text]" custT="1"/>
      <dgm:spPr/>
      <dgm:t>
        <a:bodyPr/>
        <a:lstStyle/>
        <a:p>
          <a:pPr>
            <a:buNone/>
          </a:pPr>
          <a:r>
            <a:rPr lang="en-US" sz="18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Effort forecasting per function</a:t>
          </a:r>
        </a:p>
      </dgm:t>
    </dgm:pt>
    <dgm:pt modelId="{0113D08E-EF34-BD44-BD31-4AE4588B653D}" type="parTrans" cxnId="{31C30B50-6C4D-6D46-AFBA-EC8763B3E4E9}">
      <dgm:prSet/>
      <dgm:spPr/>
      <dgm:t>
        <a:bodyPr/>
        <a:lstStyle/>
        <a:p>
          <a:endParaRPr lang="en-US"/>
        </a:p>
      </dgm:t>
    </dgm:pt>
    <dgm:pt modelId="{FA24C4CA-8448-244E-9388-45B201B18AF8}" type="sibTrans" cxnId="{31C30B50-6C4D-6D46-AFBA-EC8763B3E4E9}">
      <dgm:prSet/>
      <dgm:spPr/>
      <dgm:t>
        <a:bodyPr/>
        <a:lstStyle/>
        <a:p>
          <a:endParaRPr lang="en-US"/>
        </a:p>
      </dgm:t>
    </dgm:pt>
    <dgm:pt modelId="{35E85E6A-8808-1643-8758-07100746988E}">
      <dgm:prSet custT="1"/>
      <dgm:spPr/>
      <dgm:t>
        <a:bodyPr/>
        <a:lstStyle/>
        <a:p>
          <a:pPr>
            <a:buNone/>
          </a:pPr>
          <a:r>
            <a:rPr lang="en-US" sz="18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Data-driven estimation</a:t>
          </a:r>
          <a:r>
            <a:rPr lang="ru-RU" sz="18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model</a:t>
          </a:r>
        </a:p>
      </dgm:t>
    </dgm:pt>
    <dgm:pt modelId="{DCDDD0CB-9258-AF4E-BF06-F608FD737F2C}" type="parTrans" cxnId="{5ECA98F9-E311-B348-AEE8-F31E4B25A592}">
      <dgm:prSet/>
      <dgm:spPr/>
      <dgm:t>
        <a:bodyPr/>
        <a:lstStyle/>
        <a:p>
          <a:endParaRPr lang="en-US"/>
        </a:p>
      </dgm:t>
    </dgm:pt>
    <dgm:pt modelId="{BEFAB092-C35F-8C43-96BC-5F25E4B48497}" type="sibTrans" cxnId="{5ECA98F9-E311-B348-AEE8-F31E4B25A592}">
      <dgm:prSet/>
      <dgm:spPr/>
      <dgm:t>
        <a:bodyPr/>
        <a:lstStyle/>
        <a:p>
          <a:endParaRPr lang="en-US"/>
        </a:p>
      </dgm:t>
    </dgm:pt>
    <dgm:pt modelId="{607503B5-2446-084B-884A-DB078FB9790F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Suggesting historical projects as benchmarks.</a:t>
          </a:r>
        </a:p>
      </dgm:t>
    </dgm:pt>
    <dgm:pt modelId="{5D98CA21-5186-DD4B-8E80-667A7E6C1CD3}" type="parTrans" cxnId="{0A95499F-47C9-7042-9A5B-C6F1F3949EEB}">
      <dgm:prSet/>
      <dgm:spPr/>
      <dgm:t>
        <a:bodyPr/>
        <a:lstStyle/>
        <a:p>
          <a:endParaRPr lang="en-US"/>
        </a:p>
      </dgm:t>
    </dgm:pt>
    <dgm:pt modelId="{B11443B1-CEE9-8D4E-AC6A-8CC4B9165B43}" type="sibTrans" cxnId="{0A95499F-47C9-7042-9A5B-C6F1F3949EEB}">
      <dgm:prSet/>
      <dgm:spPr/>
      <dgm:t>
        <a:bodyPr/>
        <a:lstStyle/>
        <a:p>
          <a:endParaRPr lang="en-US"/>
        </a:p>
      </dgm:t>
    </dgm:pt>
    <dgm:pt modelId="{A6AAFADA-8860-254A-837F-06F295DFB426}">
      <dgm:prSet custT="1"/>
      <dgm:spPr/>
      <dgm:t>
        <a:bodyPr/>
        <a:lstStyle/>
        <a:p>
          <a:pPr>
            <a:buNone/>
          </a:pPr>
          <a:r>
            <a: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Interface for manager validation &amp; model refinement</a:t>
          </a:r>
        </a:p>
      </dgm:t>
    </dgm:pt>
    <dgm:pt modelId="{C60A51EC-BCB3-2B40-8F3A-A33B506B1761}" type="parTrans" cxnId="{2ADF7E6B-8F28-FB45-BD39-98B2DC1E1980}">
      <dgm:prSet/>
      <dgm:spPr/>
      <dgm:t>
        <a:bodyPr/>
        <a:lstStyle/>
        <a:p>
          <a:endParaRPr lang="en-US"/>
        </a:p>
      </dgm:t>
    </dgm:pt>
    <dgm:pt modelId="{CE8671BD-8992-4D42-8668-4F7C03B9280C}" type="sibTrans" cxnId="{2ADF7E6B-8F28-FB45-BD39-98B2DC1E1980}">
      <dgm:prSet/>
      <dgm:spPr/>
      <dgm:t>
        <a:bodyPr/>
        <a:lstStyle/>
        <a:p>
          <a:endParaRPr lang="en-US"/>
        </a:p>
      </dgm:t>
    </dgm:pt>
    <dgm:pt modelId="{A82312D4-4F67-1E48-9412-EF6058940BEF}">
      <dgm:prSet custT="1"/>
      <dgm:spPr/>
      <dgm:t>
        <a:bodyPr/>
        <a:lstStyle/>
        <a:p>
          <a:pPr>
            <a:buNone/>
          </a:pPr>
          <a:endParaRPr lang="en-US" sz="18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E9EF6B-6B81-6942-9D00-4D2B3B482F4D}" type="sibTrans" cxnId="{6B15F855-9AC2-A64D-8734-43BC782325FD}">
      <dgm:prSet/>
      <dgm:spPr/>
      <dgm:t>
        <a:bodyPr/>
        <a:lstStyle/>
        <a:p>
          <a:endParaRPr lang="en-US"/>
        </a:p>
      </dgm:t>
    </dgm:pt>
    <dgm:pt modelId="{9FC266CA-E712-894B-84EB-69A24B7C077C}" type="parTrans" cxnId="{6B15F855-9AC2-A64D-8734-43BC782325FD}">
      <dgm:prSet/>
      <dgm:spPr/>
      <dgm:t>
        <a:bodyPr/>
        <a:lstStyle/>
        <a:p>
          <a:endParaRPr lang="en-US"/>
        </a:p>
      </dgm:t>
    </dgm:pt>
    <dgm:pt modelId="{51F4D625-96FF-BB47-9759-6516B41AAA60}">
      <dgm:prSet custT="1"/>
      <dgm:spPr/>
      <dgm:t>
        <a:bodyPr/>
        <a:lstStyle/>
        <a:p>
          <a:pPr>
            <a:buNone/>
          </a:pPr>
          <a:r>
            <a:rPr lang="en-US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Extracting data from raw Excel files</a:t>
          </a:r>
        </a:p>
      </dgm:t>
    </dgm:pt>
    <dgm:pt modelId="{812C407A-12B7-6745-81BC-6395E26C507D}" type="sibTrans" cxnId="{67AE3635-B9A7-0843-BEF0-5B3ED76ACA80}">
      <dgm:prSet/>
      <dgm:spPr/>
      <dgm:t>
        <a:bodyPr/>
        <a:lstStyle/>
        <a:p>
          <a:endParaRPr lang="en-US"/>
        </a:p>
      </dgm:t>
    </dgm:pt>
    <dgm:pt modelId="{EC2D7816-7241-4B4E-B989-3A59C0C3C8C5}" type="parTrans" cxnId="{67AE3635-B9A7-0843-BEF0-5B3ED76ACA80}">
      <dgm:prSet/>
      <dgm:spPr/>
      <dgm:t>
        <a:bodyPr/>
        <a:lstStyle/>
        <a:p>
          <a:endParaRPr lang="en-US"/>
        </a:p>
      </dgm:t>
    </dgm:pt>
    <dgm:pt modelId="{5123AA4B-9AF8-9F40-B725-058FAFD14C92}">
      <dgm:prSet phldrT="[Text]" custT="1"/>
      <dgm:spPr/>
      <dgm:t>
        <a:bodyPr/>
        <a:lstStyle/>
        <a:p>
          <a:pPr>
            <a:buNone/>
          </a:pPr>
          <a:endParaRPr lang="en-US" sz="1800" b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5FFC1D-CB93-244A-880A-D5E107ABD964}" type="parTrans" cxnId="{3ED98D7D-FB42-3E44-B98B-315923A9BD08}">
      <dgm:prSet/>
      <dgm:spPr/>
      <dgm:t>
        <a:bodyPr/>
        <a:lstStyle/>
        <a:p>
          <a:endParaRPr lang="en-US"/>
        </a:p>
      </dgm:t>
    </dgm:pt>
    <dgm:pt modelId="{81168F14-C8F2-8D4F-A6EC-5448B9BFE4F6}" type="sibTrans" cxnId="{3ED98D7D-FB42-3E44-B98B-315923A9BD08}">
      <dgm:prSet/>
      <dgm:spPr/>
      <dgm:t>
        <a:bodyPr/>
        <a:lstStyle/>
        <a:p>
          <a:endParaRPr lang="en-US"/>
        </a:p>
      </dgm:t>
    </dgm:pt>
    <dgm:pt modelId="{D5520E6D-A857-4643-9F6E-4B36E9652FFC}">
      <dgm:prSet phldrT="[Text]" custT="1"/>
      <dgm:spPr/>
      <dgm:t>
        <a:bodyPr/>
        <a:lstStyle/>
        <a:p>
          <a:pPr>
            <a:buNone/>
          </a:pPr>
          <a:endParaRPr lang="en-US" sz="18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0BC9DF-4153-B643-95FB-EA59ABFC70B8}" type="parTrans" cxnId="{43ACE5C3-3C33-BC4F-91EA-3E5AADBB57C9}">
      <dgm:prSet/>
      <dgm:spPr/>
      <dgm:t>
        <a:bodyPr/>
        <a:lstStyle/>
        <a:p>
          <a:endParaRPr lang="en-US"/>
        </a:p>
      </dgm:t>
    </dgm:pt>
    <dgm:pt modelId="{56FB3215-3500-0349-A78B-41C7888D6342}" type="sibTrans" cxnId="{43ACE5C3-3C33-BC4F-91EA-3E5AADBB57C9}">
      <dgm:prSet/>
      <dgm:spPr/>
      <dgm:t>
        <a:bodyPr/>
        <a:lstStyle/>
        <a:p>
          <a:endParaRPr lang="en-US"/>
        </a:p>
      </dgm:t>
    </dgm:pt>
    <dgm:pt modelId="{9D99FB82-49E8-2B40-BE33-331D92FE594C}" type="pres">
      <dgm:prSet presAssocID="{08B8D764-6318-9547-9778-50E9BD9132EA}" presName="Name0" presStyleCnt="0">
        <dgm:presLayoutVars>
          <dgm:dir/>
          <dgm:animLvl val="lvl"/>
          <dgm:resizeHandles val="exact"/>
        </dgm:presLayoutVars>
      </dgm:prSet>
      <dgm:spPr/>
    </dgm:pt>
    <dgm:pt modelId="{936677C8-E842-2245-AAC5-8A8359E20583}" type="pres">
      <dgm:prSet presAssocID="{89CC4121-28E5-C54D-80EE-F4FB79E938DA}" presName="composite" presStyleCnt="0"/>
      <dgm:spPr/>
    </dgm:pt>
    <dgm:pt modelId="{8B025309-0AA3-0042-BEB6-69820C50785F}" type="pres">
      <dgm:prSet presAssocID="{89CC4121-28E5-C54D-80EE-F4FB79E938D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3876216-D859-A545-9FE8-178EBEC8175C}" type="pres">
      <dgm:prSet presAssocID="{89CC4121-28E5-C54D-80EE-F4FB79E938DA}" presName="desTx" presStyleLbl="revTx" presStyleIdx="0" presStyleCnt="3" custLinFactNeighborX="1275">
        <dgm:presLayoutVars>
          <dgm:bulletEnabled val="1"/>
        </dgm:presLayoutVars>
      </dgm:prSet>
      <dgm:spPr/>
    </dgm:pt>
    <dgm:pt modelId="{87BC3FD7-29DC-FB46-99CB-768B422B27BE}" type="pres">
      <dgm:prSet presAssocID="{5290C244-FD8C-9746-AAFE-9AAAAC6EDF6B}" presName="space" presStyleCnt="0"/>
      <dgm:spPr/>
    </dgm:pt>
    <dgm:pt modelId="{EF52B827-1AC7-414A-8DCF-9E370F401BC0}" type="pres">
      <dgm:prSet presAssocID="{1B34C440-F072-A445-B111-758FA4DF54D0}" presName="composite" presStyleCnt="0"/>
      <dgm:spPr/>
    </dgm:pt>
    <dgm:pt modelId="{9D287A24-4027-3342-9A12-8C661C8F4FAF}" type="pres">
      <dgm:prSet presAssocID="{1B34C440-F072-A445-B111-758FA4DF54D0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CD839FF-B795-9C49-A0F0-4D6A90E268FE}" type="pres">
      <dgm:prSet presAssocID="{1B34C440-F072-A445-B111-758FA4DF54D0}" presName="desTx" presStyleLbl="revTx" presStyleIdx="1" presStyleCnt="3" custLinFactNeighborX="2550">
        <dgm:presLayoutVars>
          <dgm:bulletEnabled val="1"/>
        </dgm:presLayoutVars>
      </dgm:prSet>
      <dgm:spPr/>
    </dgm:pt>
    <dgm:pt modelId="{14F25256-0088-7F4D-8450-3B977C0DC02A}" type="pres">
      <dgm:prSet presAssocID="{1F7153C7-2FAE-D341-AE7B-C373B56AB238}" presName="space" presStyleCnt="0"/>
      <dgm:spPr/>
    </dgm:pt>
    <dgm:pt modelId="{2B4E7759-B939-094E-A775-1B08E674ED3E}" type="pres">
      <dgm:prSet presAssocID="{4173D17B-5D2D-0140-B1EF-F83BF8A86C34}" presName="composite" presStyleCnt="0"/>
      <dgm:spPr/>
    </dgm:pt>
    <dgm:pt modelId="{90D85048-66CB-8F4C-BD92-AE32949393E1}" type="pres">
      <dgm:prSet presAssocID="{4173D17B-5D2D-0140-B1EF-F83BF8A86C34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E4877E39-57F1-474E-B436-BBD63249DBEC}" type="pres">
      <dgm:prSet presAssocID="{4173D17B-5D2D-0140-B1EF-F83BF8A86C34}" presName="desTx" presStyleLbl="revTx" presStyleIdx="2" presStyleCnt="3" custScaleX="101154" custLinFactNeighborX="2550">
        <dgm:presLayoutVars>
          <dgm:bulletEnabled val="1"/>
        </dgm:presLayoutVars>
      </dgm:prSet>
      <dgm:spPr/>
    </dgm:pt>
  </dgm:ptLst>
  <dgm:cxnLst>
    <dgm:cxn modelId="{C24E2704-53DF-504E-9537-266C2A4D76A1}" type="presOf" srcId="{427D3F47-435F-7A43-A6F2-64FE97F946C7}" destId="{A3876216-D859-A545-9FE8-178EBEC8175C}" srcOrd="0" destOrd="0" presId="urn:microsoft.com/office/officeart/2005/8/layout/chevron1"/>
    <dgm:cxn modelId="{5E5E2609-4485-F548-AFF0-E4CF64D05F55}" type="presOf" srcId="{51F4D625-96FF-BB47-9759-6516B41AAA60}" destId="{A3876216-D859-A545-9FE8-178EBEC8175C}" srcOrd="0" destOrd="2" presId="urn:microsoft.com/office/officeart/2005/8/layout/chevron1"/>
    <dgm:cxn modelId="{EFEE7F31-42ED-3D46-8F28-3A88321D359A}" type="presOf" srcId="{08B8D764-6318-9547-9778-50E9BD9132EA}" destId="{9D99FB82-49E8-2B40-BE33-331D92FE594C}" srcOrd="0" destOrd="0" presId="urn:microsoft.com/office/officeart/2005/8/layout/chevron1"/>
    <dgm:cxn modelId="{67AE3635-B9A7-0843-BEF0-5B3ED76ACA80}" srcId="{89CC4121-28E5-C54D-80EE-F4FB79E938DA}" destId="{51F4D625-96FF-BB47-9759-6516B41AAA60}" srcOrd="2" destOrd="0" parTransId="{EC2D7816-7241-4B4E-B989-3A59C0C3C8C5}" sibTransId="{812C407A-12B7-6745-81BC-6395E26C507D}"/>
    <dgm:cxn modelId="{A5EDF23A-D7D0-3049-A1CA-42302A406E06}" srcId="{89CC4121-28E5-C54D-80EE-F4FB79E938DA}" destId="{427D3F47-435F-7A43-A6F2-64FE97F946C7}" srcOrd="0" destOrd="0" parTransId="{81D2F86E-55B2-044C-B63A-72C40DE8C32B}" sibTransId="{43AE4ED8-D988-984C-AB63-ED8DA8DE1DC3}"/>
    <dgm:cxn modelId="{8BCF2741-90B0-0D42-97DB-ACBFBECFA239}" srcId="{08B8D764-6318-9547-9778-50E9BD9132EA}" destId="{1B34C440-F072-A445-B111-758FA4DF54D0}" srcOrd="1" destOrd="0" parTransId="{0C91063B-5D28-6D41-B000-1F147573AA46}" sibTransId="{1F7153C7-2FAE-D341-AE7B-C373B56AB238}"/>
    <dgm:cxn modelId="{48A0134B-901F-DA48-AFAF-FAD7C97EC862}" srcId="{08B8D764-6318-9547-9778-50E9BD9132EA}" destId="{4173D17B-5D2D-0140-B1EF-F83BF8A86C34}" srcOrd="2" destOrd="0" parTransId="{F1A46B0D-F7E5-434A-A45D-9DABCBEEF33E}" sibTransId="{66E47559-BB65-CD49-BAFD-BB7F13E98475}"/>
    <dgm:cxn modelId="{31C30B50-6C4D-6D46-AFBA-EC8763B3E4E9}" srcId="{1B34C440-F072-A445-B111-758FA4DF54D0}" destId="{6E5F5BD6-F78D-DD40-8D61-CEBE3A13B7C3}" srcOrd="0" destOrd="0" parTransId="{0113D08E-EF34-BD44-BD31-4AE4588B653D}" sibTransId="{FA24C4CA-8448-244E-9388-45B201B18AF8}"/>
    <dgm:cxn modelId="{6B15F855-9AC2-A64D-8734-43BC782325FD}" srcId="{89CC4121-28E5-C54D-80EE-F4FB79E938DA}" destId="{A82312D4-4F67-1E48-9412-EF6058940BEF}" srcOrd="1" destOrd="0" parTransId="{9FC266CA-E712-894B-84EB-69A24B7C077C}" sibTransId="{B6E9EF6B-6B81-6942-9D00-4D2B3B482F4D}"/>
    <dgm:cxn modelId="{3F1CBC62-1BBC-F647-BBB5-56A346E316D2}" type="presOf" srcId="{1B34C440-F072-A445-B111-758FA4DF54D0}" destId="{9D287A24-4027-3342-9A12-8C661C8F4FAF}" srcOrd="0" destOrd="0" presId="urn:microsoft.com/office/officeart/2005/8/layout/chevron1"/>
    <dgm:cxn modelId="{14FC1E6B-1CE7-7945-882D-13492DE43FD5}" type="presOf" srcId="{607503B5-2446-084B-884A-DB078FB9790F}" destId="{E4877E39-57F1-474E-B436-BBD63249DBEC}" srcOrd="0" destOrd="0" presId="urn:microsoft.com/office/officeart/2005/8/layout/chevron1"/>
    <dgm:cxn modelId="{2ADF7E6B-8F28-FB45-BD39-98B2DC1E1980}" srcId="{4173D17B-5D2D-0140-B1EF-F83BF8A86C34}" destId="{A6AAFADA-8860-254A-837F-06F295DFB426}" srcOrd="2" destOrd="0" parTransId="{C60A51EC-BCB3-2B40-8F3A-A33B506B1761}" sibTransId="{CE8671BD-8992-4D42-8668-4F7C03B9280C}"/>
    <dgm:cxn modelId="{F4547777-7CE5-2E4C-9941-E879BF61D837}" srcId="{08B8D764-6318-9547-9778-50E9BD9132EA}" destId="{89CC4121-28E5-C54D-80EE-F4FB79E938DA}" srcOrd="0" destOrd="0" parTransId="{2467C44C-9205-F244-BD78-E65A1506B6E7}" sibTransId="{5290C244-FD8C-9746-AAFE-9AAAAC6EDF6B}"/>
    <dgm:cxn modelId="{3ED98D7D-FB42-3E44-B98B-315923A9BD08}" srcId="{1B34C440-F072-A445-B111-758FA4DF54D0}" destId="{5123AA4B-9AF8-9F40-B725-058FAFD14C92}" srcOrd="1" destOrd="0" parTransId="{AB5FFC1D-CB93-244A-880A-D5E107ABD964}" sibTransId="{81168F14-C8F2-8D4F-A6EC-5448B9BFE4F6}"/>
    <dgm:cxn modelId="{7EB97889-CF30-E74B-8706-8201337A33E2}" type="presOf" srcId="{89CC4121-28E5-C54D-80EE-F4FB79E938DA}" destId="{8B025309-0AA3-0042-BEB6-69820C50785F}" srcOrd="0" destOrd="0" presId="urn:microsoft.com/office/officeart/2005/8/layout/chevron1"/>
    <dgm:cxn modelId="{1D73A590-2345-054A-A513-FB2199B9ED9B}" type="presOf" srcId="{5123AA4B-9AF8-9F40-B725-058FAFD14C92}" destId="{DCD839FF-B795-9C49-A0F0-4D6A90E268FE}" srcOrd="0" destOrd="1" presId="urn:microsoft.com/office/officeart/2005/8/layout/chevron1"/>
    <dgm:cxn modelId="{0A95499F-47C9-7042-9A5B-C6F1F3949EEB}" srcId="{4173D17B-5D2D-0140-B1EF-F83BF8A86C34}" destId="{607503B5-2446-084B-884A-DB078FB9790F}" srcOrd="0" destOrd="0" parTransId="{5D98CA21-5186-DD4B-8E80-667A7E6C1CD3}" sibTransId="{B11443B1-CEE9-8D4E-AC6A-8CC4B9165B43}"/>
    <dgm:cxn modelId="{43ACE5C3-3C33-BC4F-91EA-3E5AADBB57C9}" srcId="{4173D17B-5D2D-0140-B1EF-F83BF8A86C34}" destId="{D5520E6D-A857-4643-9F6E-4B36E9652FFC}" srcOrd="1" destOrd="0" parTransId="{AC0BC9DF-4153-B643-95FB-EA59ABFC70B8}" sibTransId="{56FB3215-3500-0349-A78B-41C7888D6342}"/>
    <dgm:cxn modelId="{D18333C6-985B-2A4E-8D83-0A7CB4B2A15E}" type="presOf" srcId="{D5520E6D-A857-4643-9F6E-4B36E9652FFC}" destId="{E4877E39-57F1-474E-B436-BBD63249DBEC}" srcOrd="0" destOrd="1" presId="urn:microsoft.com/office/officeart/2005/8/layout/chevron1"/>
    <dgm:cxn modelId="{09E106C9-6038-1C40-A76B-96F0E5160D94}" type="presOf" srcId="{A82312D4-4F67-1E48-9412-EF6058940BEF}" destId="{A3876216-D859-A545-9FE8-178EBEC8175C}" srcOrd="0" destOrd="1" presId="urn:microsoft.com/office/officeart/2005/8/layout/chevron1"/>
    <dgm:cxn modelId="{FBB9A8D0-F05C-534C-9A8B-854C0DFD9911}" type="presOf" srcId="{A6AAFADA-8860-254A-837F-06F295DFB426}" destId="{E4877E39-57F1-474E-B436-BBD63249DBEC}" srcOrd="0" destOrd="2" presId="urn:microsoft.com/office/officeart/2005/8/layout/chevron1"/>
    <dgm:cxn modelId="{DB419CD4-A949-5042-B207-1A0617865A69}" type="presOf" srcId="{35E85E6A-8808-1643-8758-07100746988E}" destId="{DCD839FF-B795-9C49-A0F0-4D6A90E268FE}" srcOrd="0" destOrd="2" presId="urn:microsoft.com/office/officeart/2005/8/layout/chevron1"/>
    <dgm:cxn modelId="{EC8F97EB-74C7-9843-AFB5-DB809C3752F4}" type="presOf" srcId="{6E5F5BD6-F78D-DD40-8D61-CEBE3A13B7C3}" destId="{DCD839FF-B795-9C49-A0F0-4D6A90E268FE}" srcOrd="0" destOrd="0" presId="urn:microsoft.com/office/officeart/2005/8/layout/chevron1"/>
    <dgm:cxn modelId="{47ADF7F5-0ADF-114E-9F7C-2B4B1C8E1212}" type="presOf" srcId="{4173D17B-5D2D-0140-B1EF-F83BF8A86C34}" destId="{90D85048-66CB-8F4C-BD92-AE32949393E1}" srcOrd="0" destOrd="0" presId="urn:microsoft.com/office/officeart/2005/8/layout/chevron1"/>
    <dgm:cxn modelId="{5ECA98F9-E311-B348-AEE8-F31E4B25A592}" srcId="{1B34C440-F072-A445-B111-758FA4DF54D0}" destId="{35E85E6A-8808-1643-8758-07100746988E}" srcOrd="2" destOrd="0" parTransId="{DCDDD0CB-9258-AF4E-BF06-F608FD737F2C}" sibTransId="{BEFAB092-C35F-8C43-96BC-5F25E4B48497}"/>
    <dgm:cxn modelId="{C2F8331C-8626-184F-ACBB-31B7BEF551EE}" type="presParOf" srcId="{9D99FB82-49E8-2B40-BE33-331D92FE594C}" destId="{936677C8-E842-2245-AAC5-8A8359E20583}" srcOrd="0" destOrd="0" presId="urn:microsoft.com/office/officeart/2005/8/layout/chevron1"/>
    <dgm:cxn modelId="{F835BF64-B40B-6341-922E-2D41EECC457E}" type="presParOf" srcId="{936677C8-E842-2245-AAC5-8A8359E20583}" destId="{8B025309-0AA3-0042-BEB6-69820C50785F}" srcOrd="0" destOrd="0" presId="urn:microsoft.com/office/officeart/2005/8/layout/chevron1"/>
    <dgm:cxn modelId="{371A1A34-3B4F-3F42-AF8F-2008A7EEB40B}" type="presParOf" srcId="{936677C8-E842-2245-AAC5-8A8359E20583}" destId="{A3876216-D859-A545-9FE8-178EBEC8175C}" srcOrd="1" destOrd="0" presId="urn:microsoft.com/office/officeart/2005/8/layout/chevron1"/>
    <dgm:cxn modelId="{ACDDAECA-1D39-A74E-A8CF-AD2985C677F3}" type="presParOf" srcId="{9D99FB82-49E8-2B40-BE33-331D92FE594C}" destId="{87BC3FD7-29DC-FB46-99CB-768B422B27BE}" srcOrd="1" destOrd="0" presId="urn:microsoft.com/office/officeart/2005/8/layout/chevron1"/>
    <dgm:cxn modelId="{D1C06D01-ED9C-FC4A-BFE8-D6DD71F46528}" type="presParOf" srcId="{9D99FB82-49E8-2B40-BE33-331D92FE594C}" destId="{EF52B827-1AC7-414A-8DCF-9E370F401BC0}" srcOrd="2" destOrd="0" presId="urn:microsoft.com/office/officeart/2005/8/layout/chevron1"/>
    <dgm:cxn modelId="{4D542CF1-57C0-734A-8933-E0AF7012D60B}" type="presParOf" srcId="{EF52B827-1AC7-414A-8DCF-9E370F401BC0}" destId="{9D287A24-4027-3342-9A12-8C661C8F4FAF}" srcOrd="0" destOrd="0" presId="urn:microsoft.com/office/officeart/2005/8/layout/chevron1"/>
    <dgm:cxn modelId="{C1EDF5D2-A3CF-234A-8E4A-DC40F14FF512}" type="presParOf" srcId="{EF52B827-1AC7-414A-8DCF-9E370F401BC0}" destId="{DCD839FF-B795-9C49-A0F0-4D6A90E268FE}" srcOrd="1" destOrd="0" presId="urn:microsoft.com/office/officeart/2005/8/layout/chevron1"/>
    <dgm:cxn modelId="{D775DC7E-2AF0-344D-B1B6-85E11CE70E9F}" type="presParOf" srcId="{9D99FB82-49E8-2B40-BE33-331D92FE594C}" destId="{14F25256-0088-7F4D-8450-3B977C0DC02A}" srcOrd="3" destOrd="0" presId="urn:microsoft.com/office/officeart/2005/8/layout/chevron1"/>
    <dgm:cxn modelId="{D46CC26F-EBCD-1146-B4D9-94AC1512F302}" type="presParOf" srcId="{9D99FB82-49E8-2B40-BE33-331D92FE594C}" destId="{2B4E7759-B939-094E-A775-1B08E674ED3E}" srcOrd="4" destOrd="0" presId="urn:microsoft.com/office/officeart/2005/8/layout/chevron1"/>
    <dgm:cxn modelId="{CA0E0F69-46E2-4A42-B996-253FAD2AD364}" type="presParOf" srcId="{2B4E7759-B939-094E-A775-1B08E674ED3E}" destId="{90D85048-66CB-8F4C-BD92-AE32949393E1}" srcOrd="0" destOrd="0" presId="urn:microsoft.com/office/officeart/2005/8/layout/chevron1"/>
    <dgm:cxn modelId="{B989F89A-C620-F14A-828E-36B678285B41}" type="presParOf" srcId="{2B4E7759-B939-094E-A775-1B08E674ED3E}" destId="{E4877E39-57F1-474E-B436-BBD63249DBEC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C2CA0B-D5C7-4549-8E3B-7571574FF900}" type="doc">
      <dgm:prSet loTypeId="urn:microsoft.com/office/officeart/2005/8/layout/venn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069514A-EE42-7C48-ADED-4D80E513811A}">
      <dgm:prSet phldrT="[Text]" custT="1"/>
      <dgm:spPr>
        <a:solidFill>
          <a:schemeClr val="tx2">
            <a:lumMod val="75000"/>
            <a:alpha val="25123"/>
          </a:schemeClr>
        </a:solidFill>
      </dgm:spPr>
      <dgm:t>
        <a:bodyPr anchor="t"/>
        <a:lstStyle/>
        <a:p>
          <a:r>
            <a:rPr lang="en-US" sz="1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External</a:t>
          </a:r>
          <a:endParaRPr lang="en-US" sz="800" b="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4EFE5A-5ECC-E843-BD97-D6B0EB4634E8}" type="parTrans" cxnId="{92C6DD76-4EE8-0C4C-BC4E-A5BAD418CBE4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12D8BA-E5C9-C14D-B432-29BA7514D81F}" type="sibTrans" cxnId="{92C6DD76-4EE8-0C4C-BC4E-A5BAD418CBE4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7F8814-9D97-9044-B573-97203F17BB8C}">
      <dgm:prSet phldrT="[Text]" custT="1"/>
      <dgm:spPr>
        <a:solidFill>
          <a:schemeClr val="tx2">
            <a:alpha val="40687"/>
          </a:schemeClr>
        </a:solidFill>
      </dgm:spPr>
      <dgm:t>
        <a:bodyPr anchor="t"/>
        <a:lstStyle/>
        <a:p>
          <a:pPr algn="ctr"/>
          <a:r>
            <a:rPr lang="en-US" sz="1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Indirect</a:t>
          </a:r>
          <a:endParaRPr lang="en-US" sz="800" b="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8B4129-2ABA-C049-9FD6-ECCDD2474DB3}" type="parTrans" cxnId="{31B3A5E1-6295-D847-8FA6-ED04E7EB4169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C5B58B-847D-C440-B56E-C7AEFBB1D6C3}" type="sibTrans" cxnId="{31B3A5E1-6295-D847-8FA6-ED04E7EB4169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37D179-CDE5-0942-8BF2-60203BF1A994}">
      <dgm:prSet phldrT="[Text]" custT="1"/>
      <dgm:spPr>
        <a:solidFill>
          <a:schemeClr val="dk2">
            <a:hueOff val="0"/>
            <a:satOff val="0"/>
            <a:lumOff val="0"/>
            <a:alpha val="70000"/>
          </a:schemeClr>
        </a:solidFill>
      </dgm:spPr>
      <dgm:t>
        <a:bodyPr/>
        <a:lstStyle/>
        <a:p>
          <a:r>
            <a:rPr lang="en-US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Direct</a:t>
          </a:r>
          <a:endParaRPr lang="en-US" sz="1400" b="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90C9F6-BA5A-3D4E-8739-2A050643E294}" type="parTrans" cxnId="{7C033C6D-B033-E24B-BF9E-A209A07BECF9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439592-A886-434A-9129-56318D14864F}" type="sibTrans" cxnId="{7C033C6D-B033-E24B-BF9E-A209A07BECF9}">
      <dgm:prSet/>
      <dgm:spPr/>
      <dgm:t>
        <a:bodyPr/>
        <a:lstStyle/>
        <a:p>
          <a:endParaRPr lang="en-US" b="0" cap="none" spc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2B8167-3D92-5D43-84ED-CD101D6109E0}" type="pres">
      <dgm:prSet presAssocID="{B6C2CA0B-D5C7-4549-8E3B-7571574FF900}" presName="Name0" presStyleCnt="0">
        <dgm:presLayoutVars>
          <dgm:chMax val="7"/>
          <dgm:resizeHandles val="exact"/>
        </dgm:presLayoutVars>
      </dgm:prSet>
      <dgm:spPr/>
    </dgm:pt>
    <dgm:pt modelId="{84AE0248-0F1B-2B43-9837-F48EDE6DC737}" type="pres">
      <dgm:prSet presAssocID="{B6C2CA0B-D5C7-4549-8E3B-7571574FF900}" presName="comp1" presStyleCnt="0"/>
      <dgm:spPr/>
    </dgm:pt>
    <dgm:pt modelId="{E57A1212-FBEB-7243-A830-CE9A82B73AB0}" type="pres">
      <dgm:prSet presAssocID="{B6C2CA0B-D5C7-4549-8E3B-7571574FF900}" presName="circle1" presStyleLbl="node1" presStyleIdx="0" presStyleCnt="3" custScaleX="118745" custLinFactNeighborX="-20158" custLinFactNeighborY="-420"/>
      <dgm:spPr/>
    </dgm:pt>
    <dgm:pt modelId="{2F0F2AEA-F566-D24E-8BFD-3124B9FF1663}" type="pres">
      <dgm:prSet presAssocID="{B6C2CA0B-D5C7-4549-8E3B-7571574FF900}" presName="c1text" presStyleLbl="node1" presStyleIdx="0" presStyleCnt="3">
        <dgm:presLayoutVars>
          <dgm:bulletEnabled val="1"/>
        </dgm:presLayoutVars>
      </dgm:prSet>
      <dgm:spPr/>
    </dgm:pt>
    <dgm:pt modelId="{704C82F3-A811-A44D-9B2D-9D365BABD5D8}" type="pres">
      <dgm:prSet presAssocID="{B6C2CA0B-D5C7-4549-8E3B-7571574FF900}" presName="comp2" presStyleCnt="0"/>
      <dgm:spPr/>
    </dgm:pt>
    <dgm:pt modelId="{3EE69F8C-E975-E044-8D34-1477CA708E78}" type="pres">
      <dgm:prSet presAssocID="{B6C2CA0B-D5C7-4549-8E3B-7571574FF900}" presName="circle2" presStyleLbl="node1" presStyleIdx="1" presStyleCnt="3" custScaleX="107223" custLinFactNeighborX="-27125" custLinFactNeighborY="-12765"/>
      <dgm:spPr/>
    </dgm:pt>
    <dgm:pt modelId="{84729044-F216-BC4F-810E-76B1FBC292E0}" type="pres">
      <dgm:prSet presAssocID="{B6C2CA0B-D5C7-4549-8E3B-7571574FF900}" presName="c2text" presStyleLbl="node1" presStyleIdx="1" presStyleCnt="3">
        <dgm:presLayoutVars>
          <dgm:bulletEnabled val="1"/>
        </dgm:presLayoutVars>
      </dgm:prSet>
      <dgm:spPr/>
    </dgm:pt>
    <dgm:pt modelId="{DE12E127-216C-A040-8044-62BFC576F1D5}" type="pres">
      <dgm:prSet presAssocID="{B6C2CA0B-D5C7-4549-8E3B-7571574FF900}" presName="comp3" presStyleCnt="0"/>
      <dgm:spPr/>
    </dgm:pt>
    <dgm:pt modelId="{1F1FE3A9-A0B3-BE43-B96F-3575D188E97A}" type="pres">
      <dgm:prSet presAssocID="{B6C2CA0B-D5C7-4549-8E3B-7571574FF900}" presName="circle3" presStyleLbl="node1" presStyleIdx="2" presStyleCnt="3" custScaleX="96616" custScaleY="97391" custLinFactNeighborX="-39093" custLinFactNeighborY="-41485"/>
      <dgm:spPr/>
    </dgm:pt>
    <dgm:pt modelId="{BB698CF5-4F00-C749-908F-A2EC5EC12399}" type="pres">
      <dgm:prSet presAssocID="{B6C2CA0B-D5C7-4549-8E3B-7571574FF900}" presName="c3text" presStyleLbl="node1" presStyleIdx="2" presStyleCnt="3">
        <dgm:presLayoutVars>
          <dgm:bulletEnabled val="1"/>
        </dgm:presLayoutVars>
      </dgm:prSet>
      <dgm:spPr/>
    </dgm:pt>
  </dgm:ptLst>
  <dgm:cxnLst>
    <dgm:cxn modelId="{7CB40906-E870-2646-8EDB-F0F2671FED4A}" type="presOf" srcId="{B6C2CA0B-D5C7-4549-8E3B-7571574FF900}" destId="{422B8167-3D92-5D43-84ED-CD101D6109E0}" srcOrd="0" destOrd="0" presId="urn:microsoft.com/office/officeart/2005/8/layout/venn2"/>
    <dgm:cxn modelId="{21858A13-1164-9A44-828C-1625139149D1}" type="presOf" srcId="{2069514A-EE42-7C48-ADED-4D80E513811A}" destId="{E57A1212-FBEB-7243-A830-CE9A82B73AB0}" srcOrd="0" destOrd="0" presId="urn:microsoft.com/office/officeart/2005/8/layout/venn2"/>
    <dgm:cxn modelId="{00C80E4F-2D69-004B-859F-3945E7AF4A9F}" type="presOf" srcId="{CB7F8814-9D97-9044-B573-97203F17BB8C}" destId="{84729044-F216-BC4F-810E-76B1FBC292E0}" srcOrd="1" destOrd="0" presId="urn:microsoft.com/office/officeart/2005/8/layout/venn2"/>
    <dgm:cxn modelId="{7C033C6D-B033-E24B-BF9E-A209A07BECF9}" srcId="{B6C2CA0B-D5C7-4549-8E3B-7571574FF900}" destId="{6437D179-CDE5-0942-8BF2-60203BF1A994}" srcOrd="2" destOrd="0" parTransId="{1890C9F6-BA5A-3D4E-8739-2A050643E294}" sibTransId="{BE439592-A886-434A-9129-56318D14864F}"/>
    <dgm:cxn modelId="{92C6DD76-4EE8-0C4C-BC4E-A5BAD418CBE4}" srcId="{B6C2CA0B-D5C7-4549-8E3B-7571574FF900}" destId="{2069514A-EE42-7C48-ADED-4D80E513811A}" srcOrd="0" destOrd="0" parTransId="{B64EFE5A-5ECC-E843-BD97-D6B0EB4634E8}" sibTransId="{3512D8BA-E5C9-C14D-B432-29BA7514D81F}"/>
    <dgm:cxn modelId="{B70B2C8A-C2FE-944D-9170-474377A6E395}" type="presOf" srcId="{6437D179-CDE5-0942-8BF2-60203BF1A994}" destId="{1F1FE3A9-A0B3-BE43-B96F-3575D188E97A}" srcOrd="0" destOrd="0" presId="urn:microsoft.com/office/officeart/2005/8/layout/venn2"/>
    <dgm:cxn modelId="{D5B4DB97-82C6-3747-BD0F-9AD42595BA36}" type="presOf" srcId="{CB7F8814-9D97-9044-B573-97203F17BB8C}" destId="{3EE69F8C-E975-E044-8D34-1477CA708E78}" srcOrd="0" destOrd="0" presId="urn:microsoft.com/office/officeart/2005/8/layout/venn2"/>
    <dgm:cxn modelId="{4071E4CA-106D-3440-8E58-C731F000EDF2}" type="presOf" srcId="{6437D179-CDE5-0942-8BF2-60203BF1A994}" destId="{BB698CF5-4F00-C749-908F-A2EC5EC12399}" srcOrd="1" destOrd="0" presId="urn:microsoft.com/office/officeart/2005/8/layout/venn2"/>
    <dgm:cxn modelId="{E4E7DFDF-709F-2A42-A674-CC72B1D9F5B6}" type="presOf" srcId="{2069514A-EE42-7C48-ADED-4D80E513811A}" destId="{2F0F2AEA-F566-D24E-8BFD-3124B9FF1663}" srcOrd="1" destOrd="0" presId="urn:microsoft.com/office/officeart/2005/8/layout/venn2"/>
    <dgm:cxn modelId="{31B3A5E1-6295-D847-8FA6-ED04E7EB4169}" srcId="{B6C2CA0B-D5C7-4549-8E3B-7571574FF900}" destId="{CB7F8814-9D97-9044-B573-97203F17BB8C}" srcOrd="1" destOrd="0" parTransId="{FB8B4129-2ABA-C049-9FD6-ECCDD2474DB3}" sibTransId="{49C5B58B-847D-C440-B56E-C7AEFBB1D6C3}"/>
    <dgm:cxn modelId="{C3802FCB-3640-3548-8905-0B7878FC6B57}" type="presParOf" srcId="{422B8167-3D92-5D43-84ED-CD101D6109E0}" destId="{84AE0248-0F1B-2B43-9837-F48EDE6DC737}" srcOrd="0" destOrd="0" presId="urn:microsoft.com/office/officeart/2005/8/layout/venn2"/>
    <dgm:cxn modelId="{C1B8ECD4-CA12-0A47-9EA8-422A7D75FD59}" type="presParOf" srcId="{84AE0248-0F1B-2B43-9837-F48EDE6DC737}" destId="{E57A1212-FBEB-7243-A830-CE9A82B73AB0}" srcOrd="0" destOrd="0" presId="urn:microsoft.com/office/officeart/2005/8/layout/venn2"/>
    <dgm:cxn modelId="{DB3D2C51-96C3-9C4E-8F39-23F35B89B448}" type="presParOf" srcId="{84AE0248-0F1B-2B43-9837-F48EDE6DC737}" destId="{2F0F2AEA-F566-D24E-8BFD-3124B9FF1663}" srcOrd="1" destOrd="0" presId="urn:microsoft.com/office/officeart/2005/8/layout/venn2"/>
    <dgm:cxn modelId="{3C20D3A6-3568-8045-A390-4BEEA07B50B7}" type="presParOf" srcId="{422B8167-3D92-5D43-84ED-CD101D6109E0}" destId="{704C82F3-A811-A44D-9B2D-9D365BABD5D8}" srcOrd="1" destOrd="0" presId="urn:microsoft.com/office/officeart/2005/8/layout/venn2"/>
    <dgm:cxn modelId="{FCDD18CF-37D8-2949-86AB-5851F9CC6FC9}" type="presParOf" srcId="{704C82F3-A811-A44D-9B2D-9D365BABD5D8}" destId="{3EE69F8C-E975-E044-8D34-1477CA708E78}" srcOrd="0" destOrd="0" presId="urn:microsoft.com/office/officeart/2005/8/layout/venn2"/>
    <dgm:cxn modelId="{96A8BC24-F824-544B-B248-753BDE38F1AB}" type="presParOf" srcId="{704C82F3-A811-A44D-9B2D-9D365BABD5D8}" destId="{84729044-F216-BC4F-810E-76B1FBC292E0}" srcOrd="1" destOrd="0" presId="urn:microsoft.com/office/officeart/2005/8/layout/venn2"/>
    <dgm:cxn modelId="{732232B5-9786-A449-BA9F-8D687D386468}" type="presParOf" srcId="{422B8167-3D92-5D43-84ED-CD101D6109E0}" destId="{DE12E127-216C-A040-8044-62BFC576F1D5}" srcOrd="2" destOrd="0" presId="urn:microsoft.com/office/officeart/2005/8/layout/venn2"/>
    <dgm:cxn modelId="{98370848-6F5F-C542-A241-DC2A1D3D05F1}" type="presParOf" srcId="{DE12E127-216C-A040-8044-62BFC576F1D5}" destId="{1F1FE3A9-A0B3-BE43-B96F-3575D188E97A}" srcOrd="0" destOrd="0" presId="urn:microsoft.com/office/officeart/2005/8/layout/venn2"/>
    <dgm:cxn modelId="{2885192B-8F6C-1449-8FB7-C4D2E18E4267}" type="presParOf" srcId="{DE12E127-216C-A040-8044-62BFC576F1D5}" destId="{BB698CF5-4F00-C749-908F-A2EC5EC12399}" srcOrd="1" destOrd="0" presId="urn:microsoft.com/office/officeart/2005/8/layout/venn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25309-0AA3-0042-BEB6-69820C50785F}">
      <dsp:nvSpPr>
        <dsp:cNvPr id="0" name=""/>
        <dsp:cNvSpPr/>
      </dsp:nvSpPr>
      <dsp:spPr>
        <a:xfrm>
          <a:off x="420" y="701429"/>
          <a:ext cx="2988339" cy="11953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rial" panose="020B0604020202020204" pitchFamily="34" charset="0"/>
              <a:cs typeface="Arial" panose="020B0604020202020204" pitchFamily="34" charset="0"/>
            </a:rPr>
            <a:t>Data Foundation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8088" y="701429"/>
        <a:ext cx="1793004" cy="1195335"/>
      </dsp:txXfrm>
    </dsp:sp>
    <dsp:sp modelId="{A3876216-D859-A545-9FE8-178EBEC8175C}">
      <dsp:nvSpPr>
        <dsp:cNvPr id="0" name=""/>
        <dsp:cNvSpPr/>
      </dsp:nvSpPr>
      <dsp:spPr>
        <a:xfrm>
          <a:off x="30901" y="2046182"/>
          <a:ext cx="2390671" cy="1744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Consolidating historical PRs &amp; Offers.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8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Extracting data from raw Excel files</a:t>
          </a:r>
        </a:p>
      </dsp:txBody>
      <dsp:txXfrm>
        <a:off x="30901" y="2046182"/>
        <a:ext cx="2390671" cy="1744875"/>
      </dsp:txXfrm>
    </dsp:sp>
    <dsp:sp modelId="{9D287A24-4027-3342-9A12-8C661C8F4FAF}">
      <dsp:nvSpPr>
        <dsp:cNvPr id="0" name=""/>
        <dsp:cNvSpPr/>
      </dsp:nvSpPr>
      <dsp:spPr>
        <a:xfrm>
          <a:off x="2772759" y="701429"/>
          <a:ext cx="2988339" cy="11953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rial" panose="020B0604020202020204" pitchFamily="34" charset="0"/>
              <a:cs typeface="Arial" panose="020B0604020202020204" pitchFamily="34" charset="0"/>
            </a:rPr>
            <a:t>Modeling Strategy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70427" y="701429"/>
        <a:ext cx="1793004" cy="1195335"/>
      </dsp:txXfrm>
    </dsp:sp>
    <dsp:sp modelId="{DCD839FF-B795-9C49-A0F0-4D6A90E268FE}">
      <dsp:nvSpPr>
        <dsp:cNvPr id="0" name=""/>
        <dsp:cNvSpPr/>
      </dsp:nvSpPr>
      <dsp:spPr>
        <a:xfrm>
          <a:off x="2833721" y="2046182"/>
          <a:ext cx="2390671" cy="1744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Effort forecasting per function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800" b="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Data-driven estimation</a:t>
          </a:r>
          <a:r>
            <a:rPr lang="ru-RU" sz="18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model</a:t>
          </a:r>
        </a:p>
      </dsp:txBody>
      <dsp:txXfrm>
        <a:off x="2833721" y="2046182"/>
        <a:ext cx="2390671" cy="1744875"/>
      </dsp:txXfrm>
    </dsp:sp>
    <dsp:sp modelId="{90D85048-66CB-8F4C-BD92-AE32949393E1}">
      <dsp:nvSpPr>
        <dsp:cNvPr id="0" name=""/>
        <dsp:cNvSpPr/>
      </dsp:nvSpPr>
      <dsp:spPr>
        <a:xfrm>
          <a:off x="5558892" y="701429"/>
          <a:ext cx="2988339" cy="11953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rial" panose="020B0604020202020204" pitchFamily="34" charset="0"/>
              <a:cs typeface="Arial" panose="020B0604020202020204" pitchFamily="34" charset="0"/>
            </a:rPr>
            <a:t>Decision Support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156560" y="701429"/>
        <a:ext cx="1793004" cy="1195335"/>
      </dsp:txXfrm>
    </dsp:sp>
    <dsp:sp modelId="{E4877E39-57F1-474E-B436-BBD63249DBEC}">
      <dsp:nvSpPr>
        <dsp:cNvPr id="0" name=""/>
        <dsp:cNvSpPr/>
      </dsp:nvSpPr>
      <dsp:spPr>
        <a:xfrm>
          <a:off x="5606060" y="2046182"/>
          <a:ext cx="2418259" cy="1744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Suggesting historical projects as benchmarks.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8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Interface for manager validation &amp; model refinement</a:t>
          </a:r>
        </a:p>
      </dsp:txBody>
      <dsp:txXfrm>
        <a:off x="5606060" y="2046182"/>
        <a:ext cx="2418259" cy="1744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A1212-FBEB-7243-A830-CE9A82B73AB0}">
      <dsp:nvSpPr>
        <dsp:cNvPr id="0" name=""/>
        <dsp:cNvSpPr/>
      </dsp:nvSpPr>
      <dsp:spPr>
        <a:xfrm>
          <a:off x="82212" y="0"/>
          <a:ext cx="6139674" cy="5170470"/>
        </a:xfrm>
        <a:prstGeom prst="ellipse">
          <a:avLst/>
        </a:prstGeom>
        <a:solidFill>
          <a:schemeClr val="tx2">
            <a:lumMod val="75000"/>
            <a:alpha val="25123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External</a:t>
          </a:r>
          <a:endParaRPr lang="en-US" sz="800" b="0" kern="120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79141" y="258523"/>
        <a:ext cx="2145816" cy="775570"/>
      </dsp:txXfrm>
    </dsp:sp>
    <dsp:sp modelId="{3EE69F8C-E975-E044-8D34-1477CA708E78}">
      <dsp:nvSpPr>
        <dsp:cNvPr id="0" name=""/>
        <dsp:cNvSpPr/>
      </dsp:nvSpPr>
      <dsp:spPr>
        <a:xfrm>
          <a:off x="1063470" y="797609"/>
          <a:ext cx="4157949" cy="3877852"/>
        </a:xfrm>
        <a:prstGeom prst="ellipse">
          <a:avLst/>
        </a:prstGeom>
        <a:solidFill>
          <a:schemeClr val="tx2">
            <a:alpha val="40687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Indirect</a:t>
          </a:r>
          <a:endParaRPr lang="en-US" sz="800" b="0" kern="120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3643" y="1039975"/>
        <a:ext cx="1937604" cy="727097"/>
      </dsp:txXfrm>
    </dsp:sp>
    <dsp:sp modelId="{1F1FE3A9-A0B3-BE43-B96F-3575D188E97A}">
      <dsp:nvSpPr>
        <dsp:cNvPr id="0" name=""/>
        <dsp:cNvSpPr/>
      </dsp:nvSpPr>
      <dsp:spPr>
        <a:xfrm>
          <a:off x="1934791" y="1546474"/>
          <a:ext cx="2497750" cy="2517786"/>
        </a:xfrm>
        <a:prstGeom prst="ellipse">
          <a:avLst/>
        </a:prstGeom>
        <a:solidFill>
          <a:schemeClr val="dk2">
            <a:hueOff val="0"/>
            <a:satOff val="0"/>
            <a:lumOff val="0"/>
            <a:alpha val="7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Direct</a:t>
          </a:r>
          <a:endParaRPr lang="en-US" sz="1400" b="0" kern="1200" cap="none" spc="0" dirty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00578" y="2175921"/>
        <a:ext cx="1766176" cy="1258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3C3FE-C6A4-A24A-A50D-3B2373DCEB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13A00-2F39-1143-A06B-0449DBF6C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8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C329-ECE8-8050-BD1E-97B134BA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CCE8B-8CA5-FA3F-4ACC-424E50A64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7A0E8-A56C-E178-081C-BED010E68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FF456-5C3B-C729-9184-250098EDF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13A00-2F39-1143-A06B-0449DBF6C0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EA3B4-6AEC-E748-8C9D-BF073A5A6499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021A-4DD3-854B-B35F-0EE3E23A0C8B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B9A2-ECD6-884B-9762-9E934E1BFFC9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8243-621B-1747-B818-97E8C2C3CFBF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D576E-4829-DB4E-A216-10CFC04BB0D5}" type="datetime1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D6E7-9FCA-524C-AC8B-03CB8DB861F2}" type="datetime1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8224-331A-7D47-BDE8-5F3284C13346}" type="datetime1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AFD0-1E65-9444-9DA4-F24D1533B04E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05C5-27C7-DE42-966D-69C91AF619F1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058-246E-3F42-89D1-3743417824CA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A142-9FDC-1740-84E1-25DA769558EB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8EB5-273A-544B-A15F-CF8A5A660909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5" y="434402"/>
            <a:ext cx="4044060" cy="107185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Ballpark Quotation Tool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Team: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Nida Ejaz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Temur </a:t>
            </a: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Kuchkorov</a:t>
            </a: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Javokhirbek</a:t>
            </a:r>
            <a:r>
              <a:rPr lang="en-US" sz="1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Parpikhodjaev</a:t>
            </a: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3" descr="A blue circle with smoke&#10;&#10;AI-generated content may be incorrect.">
            <a:extLst>
              <a:ext uri="{FF2B5EF4-FFF2-40B4-BE49-F238E27FC236}">
                <a16:creationId xmlns:a16="http://schemas.microsoft.com/office/drawing/2014/main" id="{0ED7C05E-7E7F-0830-3755-14A1A8C94A67}"/>
              </a:ext>
            </a:extLst>
          </p:cNvPr>
          <p:cNvPicPr/>
          <p:nvPr/>
        </p:nvPicPr>
        <p:blipFill>
          <a:blip r:embed="rId2" cstate="print"/>
          <a:srcRect l="25622" r="31978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CDBC6D2-3F71-E6FB-46CD-C72C2787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7" y="1506261"/>
            <a:ext cx="36133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Checkpoint 1: Design &amp; Management Plan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083DA0B8-1AC5-2275-050A-FC7AA55DC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black and blue logo&#10;&#10;AI-generated content may be incorrect.">
            <a:extLst>
              <a:ext uri="{FF2B5EF4-FFF2-40B4-BE49-F238E27FC236}">
                <a16:creationId xmlns:a16="http://schemas.microsoft.com/office/drawing/2014/main" id="{67058805-204E-58AF-C12F-882216F793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23" b="29845"/>
          <a:stretch>
            <a:fillRect/>
          </a:stretch>
        </p:blipFill>
        <p:spPr>
          <a:xfrm>
            <a:off x="278375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CB7A-B050-ACC7-32F9-02BACB9E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PK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5644-5376-30C5-C36B-2F594333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180" y="1561008"/>
            <a:ext cx="5116575" cy="393533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Context</a:t>
            </a:r>
            <a:endParaRPr lang="ru-RU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IVECO Group &amp; FPT Industrial overview</a:t>
            </a:r>
            <a:endParaRPr lang="en-GB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ru-RU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the current quotation process</a:t>
            </a:r>
            <a:endParaRPr lang="ru-RU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Solution: Ballpark Quotation Tool</a:t>
            </a:r>
            <a:endParaRPr lang="ru-RU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 &amp; Objectives</a:t>
            </a:r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AI-driven approach</a:t>
            </a:r>
            <a:endParaRPr lang="en-US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 Analysis</a:t>
            </a:r>
            <a:endParaRPr lang="ru-RU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&amp; Needs (User Persona)</a:t>
            </a:r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Management</a:t>
            </a: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WBS, Gantt &amp; Roadmap</a:t>
            </a:r>
            <a:endParaRPr lang="ru-RU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2C627-E61B-6611-11A8-8529695B5691}"/>
              </a:ext>
            </a:extLst>
          </p:cNvPr>
          <p:cNvSpPr txBox="1"/>
          <p:nvPr/>
        </p:nvSpPr>
        <p:spPr>
          <a:xfrm>
            <a:off x="668334" y="3198167"/>
            <a:ext cx="2229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 1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C9B6ABAF-C3E1-C860-E743-464C4CB9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black and blue logo&#10;&#10;AI-generated content may be incorrect.">
            <a:extLst>
              <a:ext uri="{FF2B5EF4-FFF2-40B4-BE49-F238E27FC236}">
                <a16:creationId xmlns:a16="http://schemas.microsoft.com/office/drawing/2014/main" id="{B34231EA-3C28-8390-AEC3-18D54DAB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0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CFEF-060B-594C-8F33-FB1C5041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CD4C-EE4F-995C-E0E6-438C4A8B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IVECO Group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31FBFAC-B9D7-DABD-AB2C-A3674E9FE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black and blue logo&#10;&#10;AI-generated content may be incorrect.">
            <a:extLst>
              <a:ext uri="{FF2B5EF4-FFF2-40B4-BE49-F238E27FC236}">
                <a16:creationId xmlns:a16="http://schemas.microsoft.com/office/drawing/2014/main" id="{471535FA-4A71-3624-CCBE-C4E4D3FA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8" name="Picture 7" descr="A multicolored text on a white background&#10;&#10;AI-generated content may be incorrect.">
            <a:extLst>
              <a:ext uri="{FF2B5EF4-FFF2-40B4-BE49-F238E27FC236}">
                <a16:creationId xmlns:a16="http://schemas.microsoft.com/office/drawing/2014/main" id="{7F2A7560-D512-85CA-F26E-8377F24CCF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0" t="25205" r="2220"/>
          <a:stretch>
            <a:fillRect/>
          </a:stretch>
        </p:blipFill>
        <p:spPr>
          <a:xfrm>
            <a:off x="297948" y="1253446"/>
            <a:ext cx="8229601" cy="456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57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8D87-5DE0-4560-DE50-169BA027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78B8-0030-C47C-5F17-C52D0C73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Problem Statement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03E5F73-1853-F9A8-C842-1D9708D3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black and blue logo&#10;&#10;AI-generated content may be incorrect.">
            <a:extLst>
              <a:ext uri="{FF2B5EF4-FFF2-40B4-BE49-F238E27FC236}">
                <a16:creationId xmlns:a16="http://schemas.microsoft.com/office/drawing/2014/main" id="{17B5CA91-5DBC-A40A-6E57-A65BF3877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4E69B-3EEE-9D26-D0F4-1F6BB5A6E25C}"/>
              </a:ext>
            </a:extLst>
          </p:cNvPr>
          <p:cNvSpPr txBox="1"/>
          <p:nvPr/>
        </p:nvSpPr>
        <p:spPr>
          <a:xfrm>
            <a:off x="635662" y="1521807"/>
            <a:ext cx="76504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Intensity: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 PR Excel files is slow and requires deep expert knowledge.</a:t>
            </a:r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Fragmented Data: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centralized database linking historical PRs with their final R&amp;D Offers.</a:t>
            </a:r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DEPENDENCY: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process relies heavily on individual expert knowledge, creating a risk of knowledge loss</a:t>
            </a:r>
          </a:p>
          <a:p>
            <a:pPr algn="just"/>
            <a:endParaRPr lang="en-US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Inconsistency: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Customer Managers provide different quotes for similar requests</a:t>
            </a:r>
          </a:p>
        </p:txBody>
      </p:sp>
    </p:spTree>
    <p:extLst>
      <p:ext uri="{BB962C8B-B14F-4D97-AF65-F5344CB8AC3E}">
        <p14:creationId xmlns:p14="http://schemas.microsoft.com/office/powerpoint/2010/main" val="272413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Solution: AI-Based Ballpark Quotation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696366"/>
            <a:ext cx="8229600" cy="2383634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extracts technical specifications from PR Excel files</a:t>
            </a:r>
          </a:p>
          <a:p>
            <a:pPr algn="just"/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Utilizes a structured database of past PR-Offer pairs to inform estimations</a:t>
            </a:r>
          </a:p>
          <a:p>
            <a:pPr algn="just"/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Predicts R&amp;D effort broken down by function for high accuracy</a:t>
            </a:r>
          </a:p>
          <a:p>
            <a:pPr algn="just"/>
            <a:r>
              <a:rPr lang="en-US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for managers to review, refine, and validate AI output before final submission.</a:t>
            </a:r>
          </a:p>
          <a:p>
            <a:pPr marL="342900" lvl="1" indent="-342900" algn="just">
              <a:buFont typeface="Arial"/>
              <a:buChar char="•"/>
              <a:defRPr sz="2000"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67B5858-F9B8-5897-0868-3CA180E7F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9E010A-01A1-F073-F4BF-07E752451CAD}"/>
              </a:ext>
            </a:extLst>
          </p:cNvPr>
          <p:cNvSpPr txBox="1"/>
          <p:nvPr/>
        </p:nvSpPr>
        <p:spPr>
          <a:xfrm>
            <a:off x="457201" y="1595337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an automated, data-driven system to provide fast and reliable</a:t>
            </a:r>
            <a:r>
              <a:rPr lang="ru-RU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R&amp;D effort estimations, reducing manual workload for Customer Managers.</a:t>
            </a:r>
          </a:p>
          <a:p>
            <a:pPr algn="just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ack and blue logo&#10;&#10;AI-generated content may be incorrect.">
            <a:extLst>
              <a:ext uri="{FF2B5EF4-FFF2-40B4-BE49-F238E27FC236}">
                <a16:creationId xmlns:a16="http://schemas.microsoft.com/office/drawing/2014/main" id="{1F46CE88-D5F6-C028-A143-12C99D13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8" y="311505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17" y="1755530"/>
            <a:ext cx="8428383" cy="3346940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Customer Manager: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Instant preliminary estimations replace days of manual analysis.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Data-driven predictions improve consistency across all quotations.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Drastic reduction in manual workload, allowing focus on high-value tasks</a:t>
            </a:r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ru-RU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Business: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Agility: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Faster "Go/No-Go" decisions accelerate the sales cycle.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Standardization:</a:t>
            </a: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unified process across all functions and departments</a:t>
            </a:r>
          </a:p>
          <a:p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A0C47-61C4-63F9-2FEC-698FCA046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A582C88D-F3DB-5EB1-13C4-868967C3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7580-A4CC-073C-A3E0-D45C332B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799E-3982-BEF9-2F4B-0A541044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Sustainable Development Goal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34F614-21CD-37C7-2008-114C61CC0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84" y="1782395"/>
            <a:ext cx="420049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SDG 9: Industry, Innovation and Infrastructure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Enhancing industrial capability through digitalization and AI-driven automation.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SDG 12: Responsible Consumption and Production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Reducing "Engineering Waste" by minimizing duplicated efforts and optimizing resource planning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92DB4-30EE-F472-AE6D-07A289D94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E3F60B17-D2AF-3D57-D3C5-B26D271F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9" name="Picture 8" descr="A logo on an orange background&#10;&#10;AI-generated content may be incorrect.">
            <a:extLst>
              <a:ext uri="{FF2B5EF4-FFF2-40B4-BE49-F238E27FC236}">
                <a16:creationId xmlns:a16="http://schemas.microsoft.com/office/drawing/2014/main" id="{E662FF50-11B5-89CA-85D1-4B365463E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957" y="1921255"/>
            <a:ext cx="1325366" cy="1325366"/>
          </a:xfrm>
          <a:prstGeom prst="rect">
            <a:avLst/>
          </a:prstGeom>
        </p:spPr>
      </p:pic>
      <p:pic>
        <p:nvPicPr>
          <p:cNvPr id="12" name="Picture 11" descr="A yellow sign with white text&#10;&#10;AI-generated content may be incorrect.">
            <a:extLst>
              <a:ext uri="{FF2B5EF4-FFF2-40B4-BE49-F238E27FC236}">
                <a16:creationId xmlns:a16="http://schemas.microsoft.com/office/drawing/2014/main" id="{717193D4-749B-90F1-6673-DDDC5B544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957" y="3750238"/>
            <a:ext cx="1325366" cy="132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1070C-96D7-EA5E-FEF2-CF0CAB7D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3C93-C530-A1B5-8FBC-059F9517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 &amp; Roadmap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C234F2-9F0B-AC25-A60E-A9EB02F41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778289"/>
              </p:ext>
            </p:extLst>
          </p:nvPr>
        </p:nvGraphicFramePr>
        <p:xfrm>
          <a:off x="298174" y="1417638"/>
          <a:ext cx="8547652" cy="4492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B258F5F-B320-6ACD-CE5D-D09D8629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BCF414F4-FCCE-CB89-E806-DC554B7D1A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6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705F-85FB-D008-14B9-21F11F8D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93EC-099F-667F-C47C-9E4D787C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414EF7-3992-562C-7F61-31D172D040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840848"/>
              </p:ext>
            </p:extLst>
          </p:nvPr>
        </p:nvGraphicFramePr>
        <p:xfrm>
          <a:off x="1237143" y="1391660"/>
          <a:ext cx="8388626" cy="5170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964FCF-C6F9-4C5D-8E3A-FD3DFB904013}"/>
              </a:ext>
            </a:extLst>
          </p:cNvPr>
          <p:cNvSpPr/>
          <p:nvPr/>
        </p:nvSpPr>
        <p:spPr>
          <a:xfrm>
            <a:off x="3390472" y="3543496"/>
            <a:ext cx="795130" cy="32799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Customer Manager</a:t>
            </a:r>
            <a:endParaRPr lang="en-US" sz="8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9A0806-99FF-C789-C64A-BD265EEDB0C2}"/>
              </a:ext>
            </a:extLst>
          </p:cNvPr>
          <p:cNvSpPr/>
          <p:nvPr/>
        </p:nvSpPr>
        <p:spPr>
          <a:xfrm>
            <a:off x="3991622" y="4806820"/>
            <a:ext cx="795130" cy="3279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Function Owners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F0E446-67C0-B235-4674-B28230AA5E4A}"/>
              </a:ext>
            </a:extLst>
          </p:cNvPr>
          <p:cNvSpPr/>
          <p:nvPr/>
        </p:nvSpPr>
        <p:spPr>
          <a:xfrm>
            <a:off x="4572000" y="3454884"/>
            <a:ext cx="795130" cy="3279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AI &amp; Data Team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80FB28-284A-EDDE-24D8-9E44D804B1CA}"/>
              </a:ext>
            </a:extLst>
          </p:cNvPr>
          <p:cNvSpPr/>
          <p:nvPr/>
        </p:nvSpPr>
        <p:spPr>
          <a:xfrm>
            <a:off x="2992907" y="2768276"/>
            <a:ext cx="795130" cy="32799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Project Mentors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112555-008C-8481-AFC9-D66E3BF21015}"/>
              </a:ext>
            </a:extLst>
          </p:cNvPr>
          <p:cNvSpPr/>
          <p:nvPr/>
        </p:nvSpPr>
        <p:spPr>
          <a:xfrm>
            <a:off x="3991622" y="5617500"/>
            <a:ext cx="795130" cy="3279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AI &amp; Data Team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1869D5-E774-0115-9D50-AC87DF67120F}"/>
              </a:ext>
            </a:extLst>
          </p:cNvPr>
          <p:cNvSpPr/>
          <p:nvPr/>
        </p:nvSpPr>
        <p:spPr>
          <a:xfrm>
            <a:off x="5146906" y="2845730"/>
            <a:ext cx="795130" cy="3279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Platform Engineering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F5B4B2-6840-8FF3-F633-2A137AF0B98B}"/>
              </a:ext>
            </a:extLst>
          </p:cNvPr>
          <p:cNvSpPr/>
          <p:nvPr/>
        </p:nvSpPr>
        <p:spPr>
          <a:xfrm>
            <a:off x="2362495" y="4118914"/>
            <a:ext cx="795130" cy="3279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Database Engineers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E923C4-2D0C-8F0F-0A7B-66BC70326F29}"/>
              </a:ext>
            </a:extLst>
          </p:cNvPr>
          <p:cNvSpPr/>
          <p:nvPr/>
        </p:nvSpPr>
        <p:spPr>
          <a:xfrm>
            <a:off x="1567365" y="3297916"/>
            <a:ext cx="795130" cy="32799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Customers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1CA946-C8E2-953C-FB5A-DC457A58C619}"/>
              </a:ext>
            </a:extLst>
          </p:cNvPr>
          <p:cNvSpPr/>
          <p:nvPr/>
        </p:nvSpPr>
        <p:spPr>
          <a:xfrm>
            <a:off x="2362495" y="2206669"/>
            <a:ext cx="795130" cy="3279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Suppliers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00FDF4-BB66-0000-5AB1-4DB14F4383F7}"/>
              </a:ext>
            </a:extLst>
          </p:cNvPr>
          <p:cNvSpPr/>
          <p:nvPr/>
        </p:nvSpPr>
        <p:spPr>
          <a:xfrm>
            <a:off x="5274179" y="1928961"/>
            <a:ext cx="795130" cy="3279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Senior Management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768CE7F-5B96-1004-7FD2-E695A38A193A}"/>
              </a:ext>
            </a:extLst>
          </p:cNvPr>
          <p:cNvSpPr/>
          <p:nvPr/>
        </p:nvSpPr>
        <p:spPr>
          <a:xfrm>
            <a:off x="4742528" y="4235357"/>
            <a:ext cx="795130" cy="327991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Developers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768163-0CEE-5B4A-399F-4670E15DB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blue logo&#10;&#10;AI-generated content may be incorrect.">
            <a:extLst>
              <a:ext uri="{FF2B5EF4-FFF2-40B4-BE49-F238E27FC236}">
                <a16:creationId xmlns:a16="http://schemas.microsoft.com/office/drawing/2014/main" id="{557073E4-593F-B86D-B3A3-375241283A2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9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2D99-8500-F0EF-2F22-1ABD2C78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AF01-7D60-77AB-F953-69038F46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62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Persona</a:t>
            </a:r>
          </a:p>
        </p:txBody>
      </p:sp>
      <p:pic>
        <p:nvPicPr>
          <p:cNvPr id="10" name="Content Placeholder 9" descr="A person holding a cup&#10;&#10;AI-generated content may be incorrect.">
            <a:extLst>
              <a:ext uri="{FF2B5EF4-FFF2-40B4-BE49-F238E27FC236}">
                <a16:creationId xmlns:a16="http://schemas.microsoft.com/office/drawing/2014/main" id="{E88AC40F-8305-8AF7-7EE1-36AF27214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007" y="1922360"/>
            <a:ext cx="3086352" cy="274552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A7A394-2D50-4156-8871-627713CFCFFB}"/>
              </a:ext>
            </a:extLst>
          </p:cNvPr>
          <p:cNvSpPr txBox="1"/>
          <p:nvPr/>
        </p:nvSpPr>
        <p:spPr>
          <a:xfrm>
            <a:off x="3396749" y="1208334"/>
            <a:ext cx="2309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John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C109AF-AA80-8F0B-C174-A54D4E0A3A25}"/>
              </a:ext>
            </a:extLst>
          </p:cNvPr>
          <p:cNvSpPr/>
          <p:nvPr/>
        </p:nvSpPr>
        <p:spPr>
          <a:xfrm>
            <a:off x="90672" y="3400606"/>
            <a:ext cx="2132170" cy="9519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Constantly receives complex </a:t>
            </a:r>
            <a:r>
              <a:rPr lang="en-US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Requests (PRs)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Excel format containing unstructured technical data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F4BDDA-792D-1215-6366-9FA7FC80EDC0}"/>
              </a:ext>
            </a:extLst>
          </p:cNvPr>
          <p:cNvSpPr/>
          <p:nvPr/>
        </p:nvSpPr>
        <p:spPr>
          <a:xfrm>
            <a:off x="489565" y="2750124"/>
            <a:ext cx="1363038" cy="63570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Behavior &amp; Habits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DC3F351-39BC-C716-9369-35610BCFF60B}"/>
              </a:ext>
            </a:extLst>
          </p:cNvPr>
          <p:cNvSpPr/>
          <p:nvPr/>
        </p:nvSpPr>
        <p:spPr>
          <a:xfrm>
            <a:off x="151864" y="5415269"/>
            <a:ext cx="2317016" cy="9519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chemeClr val="bg2"/>
                </a:solidFill>
              </a:rPr>
              <a:t>1) Struggling to find historical "PR-Offer" pairs scattered across local files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chemeClr val="bg2"/>
                </a:solidFill>
              </a:rPr>
              <a:t>2) The manual analysis of Excel files is too slow for urgent commercial opportunities</a:t>
            </a:r>
            <a:endParaRPr lang="en-US" altLang="en-US" sz="10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45C655-3AEF-8ECE-BC5B-0BFEDC91570C}"/>
              </a:ext>
            </a:extLst>
          </p:cNvPr>
          <p:cNvSpPr/>
          <p:nvPr/>
        </p:nvSpPr>
        <p:spPr>
          <a:xfrm>
            <a:off x="360226" y="4831976"/>
            <a:ext cx="1753543" cy="568513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Pain Points &amp; Frustrations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7C3D385-62DD-1299-F7AF-6BEE09267612}"/>
              </a:ext>
            </a:extLst>
          </p:cNvPr>
          <p:cNvSpPr/>
          <p:nvPr/>
        </p:nvSpPr>
        <p:spPr>
          <a:xfrm>
            <a:off x="451627" y="1578981"/>
            <a:ext cx="1582333" cy="6668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 years old, works at</a:t>
            </a:r>
          </a:p>
          <a:p>
            <a:pPr lvl="0"/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FPT Industrial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A2A5F53-EDCC-1455-6091-C526E038063B}"/>
              </a:ext>
            </a:extLst>
          </p:cNvPr>
          <p:cNvSpPr/>
          <p:nvPr/>
        </p:nvSpPr>
        <p:spPr>
          <a:xfrm>
            <a:off x="698220" y="1101899"/>
            <a:ext cx="1089145" cy="45855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Demographics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6ECE67-BD65-E9AE-84BB-2C235704A43C}"/>
              </a:ext>
            </a:extLst>
          </p:cNvPr>
          <p:cNvSpPr/>
          <p:nvPr/>
        </p:nvSpPr>
        <p:spPr>
          <a:xfrm>
            <a:off x="6837335" y="1463544"/>
            <a:ext cx="2007027" cy="9233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quotation time from days to minutes. Ensure consistent pricing across markets. Minimize manual Excel data entry.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4D1EF6-FBE9-74F1-8738-14CBA780E6A3}"/>
              </a:ext>
            </a:extLst>
          </p:cNvPr>
          <p:cNvSpPr/>
          <p:nvPr/>
        </p:nvSpPr>
        <p:spPr>
          <a:xfrm>
            <a:off x="6994897" y="880251"/>
            <a:ext cx="1753543" cy="568513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&amp; Needs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57E62D4-6DCA-B326-F560-2B4394D9E0BA}"/>
              </a:ext>
            </a:extLst>
          </p:cNvPr>
          <p:cNvSpPr/>
          <p:nvPr/>
        </p:nvSpPr>
        <p:spPr>
          <a:xfrm>
            <a:off x="6868653" y="3586620"/>
            <a:ext cx="2092643" cy="9233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use: Historical Offers, Technical Product Specifications</a:t>
            </a:r>
          </a:p>
          <a:p>
            <a:pPr algn="ctr"/>
            <a:endParaRPr lang="ru-RU" sz="10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produce: Validated Ballpark Estimations, Feasibility Reports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44A910E-BFC0-1D45-2590-9FBFA68F2BA9}"/>
              </a:ext>
            </a:extLst>
          </p:cNvPr>
          <p:cNvSpPr/>
          <p:nvPr/>
        </p:nvSpPr>
        <p:spPr>
          <a:xfrm>
            <a:off x="7036375" y="2998707"/>
            <a:ext cx="1753543" cy="568513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Data Can Produce/Use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74A4A0C-8181-2755-962B-8023AE837652}"/>
              </a:ext>
            </a:extLst>
          </p:cNvPr>
          <p:cNvSpPr/>
          <p:nvPr/>
        </p:nvSpPr>
        <p:spPr>
          <a:xfrm>
            <a:off x="6094856" y="5614223"/>
            <a:ext cx="2994729" cy="9233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AI-driven dashboard that parses PR files and generates a </a:t>
            </a:r>
            <a:r>
              <a:rPr lang="en-US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cost breakdown by function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(Design, Testing, Calibration), highlighting </a:t>
            </a:r>
            <a:r>
              <a:rPr lang="en-US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historical cases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validation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202AC76-9ECC-D2CE-355E-26CFAF8E610D}"/>
              </a:ext>
            </a:extLst>
          </p:cNvPr>
          <p:cNvSpPr/>
          <p:nvPr/>
        </p:nvSpPr>
        <p:spPr>
          <a:xfrm>
            <a:off x="6817015" y="5043137"/>
            <a:ext cx="1753543" cy="568513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1399B70B-183B-D5E5-E43F-BA5A4DE70F2A}"/>
              </a:ext>
            </a:extLst>
          </p:cNvPr>
          <p:cNvCxnSpPr>
            <a:cxnSpLocks/>
            <a:stCxn id="10" idx="1"/>
            <a:endCxn id="23" idx="3"/>
          </p:cNvCxnSpPr>
          <p:nvPr/>
        </p:nvCxnSpPr>
        <p:spPr>
          <a:xfrm rot="10800000">
            <a:off x="1787365" y="1331176"/>
            <a:ext cx="1175642" cy="1963949"/>
          </a:xfrm>
          <a:prstGeom prst="bentConnector3">
            <a:avLst>
              <a:gd name="adj1" fmla="val 361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3E8A5D8-7BF2-1931-4AF4-B4CF2953ED54}"/>
              </a:ext>
            </a:extLst>
          </p:cNvPr>
          <p:cNvCxnSpPr>
            <a:cxnSpLocks/>
            <a:stCxn id="10" idx="1"/>
            <a:endCxn id="21" idx="3"/>
          </p:cNvCxnSpPr>
          <p:nvPr/>
        </p:nvCxnSpPr>
        <p:spPr>
          <a:xfrm rot="10800000" flipV="1">
            <a:off x="2113769" y="3295123"/>
            <a:ext cx="849238" cy="18211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05D1136-1ED2-A3B0-C8E7-F2EA71D6D310}"/>
              </a:ext>
            </a:extLst>
          </p:cNvPr>
          <p:cNvCxnSpPr>
            <a:cxnSpLocks/>
          </p:cNvCxnSpPr>
          <p:nvPr/>
        </p:nvCxnSpPr>
        <p:spPr>
          <a:xfrm rot="10800000">
            <a:off x="1852603" y="3078135"/>
            <a:ext cx="664882" cy="2236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63B58E0-C784-5816-45C6-D663191CF440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 flipV="1">
            <a:off x="6049359" y="1164508"/>
            <a:ext cx="945538" cy="2130616"/>
          </a:xfrm>
          <a:prstGeom prst="bentConnector3">
            <a:avLst>
              <a:gd name="adj1" fmla="val 295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9CEAAFA7-8C41-C788-D358-ECCEBE3F5AD4}"/>
              </a:ext>
            </a:extLst>
          </p:cNvPr>
          <p:cNvCxnSpPr>
            <a:cxnSpLocks/>
            <a:stCxn id="10" idx="3"/>
            <a:endCxn id="31" idx="1"/>
          </p:cNvCxnSpPr>
          <p:nvPr/>
        </p:nvCxnSpPr>
        <p:spPr>
          <a:xfrm>
            <a:off x="6049359" y="3295124"/>
            <a:ext cx="767656" cy="2032270"/>
          </a:xfrm>
          <a:prstGeom prst="bentConnector3">
            <a:avLst>
              <a:gd name="adj1" fmla="val 367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2A0B187-EE0E-6EE7-0E6A-13D0E5DDD25F}"/>
              </a:ext>
            </a:extLst>
          </p:cNvPr>
          <p:cNvCxnSpPr>
            <a:cxnSpLocks/>
          </p:cNvCxnSpPr>
          <p:nvPr/>
        </p:nvCxnSpPr>
        <p:spPr>
          <a:xfrm>
            <a:off x="6329680" y="3291663"/>
            <a:ext cx="706695" cy="1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5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Journey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3F684F-4C18-FF87-89DF-AADBEC20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B2B1BB-9676-B63F-5CBB-953D961FE8D8}"/>
              </a:ext>
            </a:extLst>
          </p:cNvPr>
          <p:cNvCxnSpPr>
            <a:cxnSpLocks/>
          </p:cNvCxnSpPr>
          <p:nvPr/>
        </p:nvCxnSpPr>
        <p:spPr>
          <a:xfrm>
            <a:off x="457200" y="3863182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112F29-B7F7-2C90-2824-0EAA33DD75E2}"/>
              </a:ext>
            </a:extLst>
          </p:cNvPr>
          <p:cNvSpPr txBox="1"/>
          <p:nvPr/>
        </p:nvSpPr>
        <p:spPr>
          <a:xfrm>
            <a:off x="416560" y="3098800"/>
            <a:ext cx="13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Awareness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AA4FB-F9D3-37D0-6C9A-B4717035D16D}"/>
              </a:ext>
            </a:extLst>
          </p:cNvPr>
          <p:cNvSpPr txBox="1"/>
          <p:nvPr/>
        </p:nvSpPr>
        <p:spPr>
          <a:xfrm>
            <a:off x="4037238" y="318442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25F97-F603-652C-E742-08F66C245105}"/>
              </a:ext>
            </a:extLst>
          </p:cNvPr>
          <p:cNvSpPr txBox="1"/>
          <p:nvPr/>
        </p:nvSpPr>
        <p:spPr>
          <a:xfrm>
            <a:off x="5553796" y="4258233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 &amp;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F6B19-8981-1F49-1743-090D621CE8FD}"/>
              </a:ext>
            </a:extLst>
          </p:cNvPr>
          <p:cNvSpPr txBox="1"/>
          <p:nvPr/>
        </p:nvSpPr>
        <p:spPr>
          <a:xfrm>
            <a:off x="1783080" y="4241485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Consideration</a:t>
            </a: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D8D52-7922-07BA-572D-BFCA55C7AD59}"/>
              </a:ext>
            </a:extLst>
          </p:cNvPr>
          <p:cNvSpPr txBox="1"/>
          <p:nvPr/>
        </p:nvSpPr>
        <p:spPr>
          <a:xfrm>
            <a:off x="6502400" y="3184426"/>
            <a:ext cx="21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Loyalty &amp; Advocacy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5FC46B-2836-A66F-AF31-AB2A7D886CC1}"/>
              </a:ext>
            </a:extLst>
          </p:cNvPr>
          <p:cNvSpPr txBox="1"/>
          <p:nvPr/>
        </p:nvSpPr>
        <p:spPr>
          <a:xfrm>
            <a:off x="102741" y="2198717"/>
            <a:ext cx="2791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Receives PR and realizes that manual estimation is time-consuming.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20EDD-253B-241D-7055-FB85A850B57B}"/>
              </a:ext>
            </a:extLst>
          </p:cNvPr>
          <p:cNvSpPr txBox="1"/>
          <p:nvPr/>
        </p:nvSpPr>
        <p:spPr>
          <a:xfrm>
            <a:off x="1125659" y="4627565"/>
            <a:ext cx="3241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Searches past cases, but struggles with inconsistent or missing data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29C81-8681-7102-AB93-7638F1064C95}"/>
              </a:ext>
            </a:extLst>
          </p:cNvPr>
          <p:cNvSpPr txBox="1"/>
          <p:nvPr/>
        </p:nvSpPr>
        <p:spPr>
          <a:xfrm>
            <a:off x="3024145" y="2198717"/>
            <a:ext cx="3095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Uploads PR to the Ballpark Tool and receives an AI-generated estimate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E29CB-8ED0-BED6-A455-575E0530B25E}"/>
              </a:ext>
            </a:extLst>
          </p:cNvPr>
          <p:cNvSpPr txBox="1"/>
          <p:nvPr/>
        </p:nvSpPr>
        <p:spPr>
          <a:xfrm>
            <a:off x="4949344" y="4619771"/>
            <a:ext cx="3241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Engages with Function Owners to validate/refine the estimate before sending it to the customer</a:t>
            </a:r>
            <a:endParaRPr lang="en-US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0F9CA4-A322-FB74-E646-9991E46B4EC8}"/>
              </a:ext>
            </a:extLst>
          </p:cNvPr>
          <p:cNvSpPr txBox="1"/>
          <p:nvPr/>
        </p:nvSpPr>
        <p:spPr>
          <a:xfrm>
            <a:off x="6249462" y="2198717"/>
            <a:ext cx="2738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Continues using the tool for consistent and efficient estimations</a:t>
            </a: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AF2710-37D9-AB3B-D163-FB12D8BC9773}"/>
              </a:ext>
            </a:extLst>
          </p:cNvPr>
          <p:cNvSpPr/>
          <p:nvPr/>
        </p:nvSpPr>
        <p:spPr>
          <a:xfrm>
            <a:off x="935974" y="3782287"/>
            <a:ext cx="141504" cy="15401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11BAF2-8C41-01AF-00DB-B07246BEF75F}"/>
              </a:ext>
            </a:extLst>
          </p:cNvPr>
          <p:cNvSpPr/>
          <p:nvPr/>
        </p:nvSpPr>
        <p:spPr>
          <a:xfrm>
            <a:off x="2516394" y="3782287"/>
            <a:ext cx="141504" cy="15401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124A59-3A81-B715-35C7-E06428E6EDC3}"/>
              </a:ext>
            </a:extLst>
          </p:cNvPr>
          <p:cNvSpPr/>
          <p:nvPr/>
        </p:nvSpPr>
        <p:spPr>
          <a:xfrm>
            <a:off x="4501248" y="3810793"/>
            <a:ext cx="141504" cy="15401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489E32-EAF0-E61D-0AD4-2689DDE0FBA6}"/>
              </a:ext>
            </a:extLst>
          </p:cNvPr>
          <p:cNvSpPr/>
          <p:nvPr/>
        </p:nvSpPr>
        <p:spPr>
          <a:xfrm>
            <a:off x="6338407" y="3810793"/>
            <a:ext cx="141504" cy="15401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494EA9-4985-62B3-2E6F-CA6EBDB77D2E}"/>
              </a:ext>
            </a:extLst>
          </p:cNvPr>
          <p:cNvSpPr/>
          <p:nvPr/>
        </p:nvSpPr>
        <p:spPr>
          <a:xfrm>
            <a:off x="7547945" y="3801628"/>
            <a:ext cx="141504" cy="15401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black and blue logo&#10;&#10;AI-generated content may be incorrect.">
            <a:extLst>
              <a:ext uri="{FF2B5EF4-FFF2-40B4-BE49-F238E27FC236}">
                <a16:creationId xmlns:a16="http://schemas.microsoft.com/office/drawing/2014/main" id="{EA3F511A-B854-0B16-D155-147E3324B8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E338-B467-7B44-C963-8583EA62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BEC6-9B22-FFA0-FCA9-C4561F3D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28271-2E10-B705-0115-0185D906D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8EFE3A-C95A-4F49-4932-A884B09B6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39905"/>
              </p:ext>
            </p:extLst>
          </p:nvPr>
        </p:nvGraphicFramePr>
        <p:xfrm>
          <a:off x="457200" y="1364597"/>
          <a:ext cx="822960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5162360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91993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</a:rPr>
                        <a:t>Functional Requirements: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2"/>
                          </a:solidFill>
                        </a:rPr>
                        <a:t>Non-functional: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269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Data Ingestion &amp; Preparation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Upload PR Excel files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Extract key PR data (NLP)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Structured PR–Offer database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Core R&amp;D Cost Prediction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b="0" dirty="0">
                          <a:solidFill>
                            <a:schemeClr val="tx2"/>
                          </a:solidFill>
                        </a:rPr>
                        <a:t>Function-level R&amp;D cost prediction</a:t>
                      </a:r>
                      <a:endParaRPr lang="en-US" b="0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Retrieve similar historical PRs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Decision support indicators (past matches)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Review &amp; Output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Human review and refinement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Export final estimation (Excel/PDF)</a:t>
                      </a:r>
                      <a:endParaRPr lang="en-US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Performance &amp; Accuracy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Fast predictions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Consistent and accurate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Usability &amp; Transparency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Easy to use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Explainable outputs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285750" lvl="0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System Integrity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Secure internal access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 marL="742950" lvl="1" indent="-285750">
                        <a:lnSpc>
                          <a:spcPct val="100000"/>
                        </a:lnSpc>
                        <a:buFont typeface="Wingdings" pitchFamily="2" charset="2"/>
                        <a:buChar char="v"/>
                      </a:pPr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Maintainable &amp; scalable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16574"/>
                  </a:ext>
                </a:extLst>
              </a:tr>
            </a:tbl>
          </a:graphicData>
        </a:graphic>
      </p:graphicFrame>
      <p:pic>
        <p:nvPicPr>
          <p:cNvPr id="9" name="Picture 8" descr="A black and blue logo&#10;&#10;AI-generated content may be incorrect.">
            <a:extLst>
              <a:ext uri="{FF2B5EF4-FFF2-40B4-BE49-F238E27FC236}">
                <a16:creationId xmlns:a16="http://schemas.microsoft.com/office/drawing/2014/main" id="{91D27B59-F2F5-ED5C-F634-C6884B6EDE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11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CEC4B-85A1-A7DF-A74E-DD753BE2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917207-0927-61D9-ACBF-A2E56B9F1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0BD82B-9A26-F6D4-C4A4-3D7CD9E2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1C291-06BB-7D55-E8FE-4E29F540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Diagram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91814-FC4C-0D02-6482-248EE251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1B9E86-9A83-75C4-5848-879088BC8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3F87E-B413-F968-C48B-D3EDA483C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7344" y="678262"/>
            <a:ext cx="4735389" cy="1645920"/>
          </a:xfrm>
        </p:spPr>
        <p:txBody>
          <a:bodyPr anchor="ctr">
            <a:normAutofit/>
          </a:bodyPr>
          <a:lstStyle/>
          <a:p>
            <a:endParaRPr lang="en-GB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PR Excel + Database</a:t>
            </a:r>
          </a:p>
          <a:p>
            <a:pPr>
              <a:defRPr sz="2000"/>
            </a:pP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Process: NLP → Features → Model → Review</a:t>
            </a:r>
          </a:p>
          <a:p>
            <a:pPr>
              <a:defRPr sz="2000"/>
            </a:pPr>
            <a:r>
              <a:rPr lang="en-GB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R&amp;D estimation + similar cases</a:t>
            </a:r>
          </a:p>
          <a:p>
            <a:pPr>
              <a:defRPr sz="2000"/>
            </a:pPr>
            <a:endParaRPr lang="en-GB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C1C43-667A-26F0-B41E-5BEB287D5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and blue logo&#10;&#10;AI-generated content may be incorrect.">
            <a:extLst>
              <a:ext uri="{FF2B5EF4-FFF2-40B4-BE49-F238E27FC236}">
                <a16:creationId xmlns:a16="http://schemas.microsoft.com/office/drawing/2014/main" id="{EF8E129D-D4E5-F683-0FE7-FF9346A4B8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DEB4FB-A111-2286-EFAC-4511E147356F}"/>
              </a:ext>
            </a:extLst>
          </p:cNvPr>
          <p:cNvSpPr/>
          <p:nvPr/>
        </p:nvSpPr>
        <p:spPr>
          <a:xfrm>
            <a:off x="225566" y="4011983"/>
            <a:ext cx="1483360" cy="629920"/>
          </a:xfrm>
          <a:prstGeom prst="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Product Request (PR) Excel – User Upload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6AB7A2A3-C429-116D-BD3F-BA4811CF37B4}"/>
              </a:ext>
            </a:extLst>
          </p:cNvPr>
          <p:cNvSpPr/>
          <p:nvPr/>
        </p:nvSpPr>
        <p:spPr>
          <a:xfrm>
            <a:off x="404059" y="4810583"/>
            <a:ext cx="477520" cy="69088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B6BE3-3690-FB83-F0D3-6347BB90900D}"/>
              </a:ext>
            </a:extLst>
          </p:cNvPr>
          <p:cNvSpPr txBox="1"/>
          <p:nvPr/>
        </p:nvSpPr>
        <p:spPr>
          <a:xfrm>
            <a:off x="918872" y="4955968"/>
            <a:ext cx="1018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Historical PR–Offer 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00E439-B09D-4F80-6C5F-0EE70BAE8DF3}"/>
              </a:ext>
            </a:extLst>
          </p:cNvPr>
          <p:cNvSpPr/>
          <p:nvPr/>
        </p:nvSpPr>
        <p:spPr>
          <a:xfrm>
            <a:off x="2899509" y="3241101"/>
            <a:ext cx="1361440" cy="5657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 Parsing &amp; NLP Extraction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621A4-6C32-2362-F113-E4B87110257D}"/>
              </a:ext>
            </a:extLst>
          </p:cNvPr>
          <p:cNvSpPr/>
          <p:nvPr/>
        </p:nvSpPr>
        <p:spPr>
          <a:xfrm>
            <a:off x="2076732" y="4076122"/>
            <a:ext cx="1387104" cy="629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PR–Offer DB &amp; Feature 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C3625E-06D6-5428-B44E-740AC7386EF1}"/>
              </a:ext>
            </a:extLst>
          </p:cNvPr>
          <p:cNvSpPr/>
          <p:nvPr/>
        </p:nvSpPr>
        <p:spPr>
          <a:xfrm>
            <a:off x="3865104" y="4076122"/>
            <a:ext cx="1361440" cy="5657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Function-Level Effort Prediction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CA49A-4D09-457B-29C9-A5C89AC57080}"/>
              </a:ext>
            </a:extLst>
          </p:cNvPr>
          <p:cNvSpPr/>
          <p:nvPr/>
        </p:nvSpPr>
        <p:spPr>
          <a:xfrm>
            <a:off x="2770284" y="5132021"/>
            <a:ext cx="1939620" cy="5657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Case Retrieval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6F7938-4A22-65BD-0C20-D4061C7817BE}"/>
              </a:ext>
            </a:extLst>
          </p:cNvPr>
          <p:cNvSpPr/>
          <p:nvPr/>
        </p:nvSpPr>
        <p:spPr>
          <a:xfrm>
            <a:off x="5451173" y="3914488"/>
            <a:ext cx="1559922" cy="887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Review (Customer Manager + Function Owners)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752B5-A04B-FD49-AFED-D2D74A081A43}"/>
              </a:ext>
            </a:extLst>
          </p:cNvPr>
          <p:cNvSpPr/>
          <p:nvPr/>
        </p:nvSpPr>
        <p:spPr>
          <a:xfrm>
            <a:off x="7282898" y="3421970"/>
            <a:ext cx="1694548" cy="18721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Output: Validated R&amp;D Estimation &amp; Feasibility Report</a:t>
            </a:r>
          </a:p>
          <a:p>
            <a:pPr algn="ctr"/>
            <a:endParaRPr lang="en-US" sz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E3D785-A7F8-EE0B-7B09-5480EC5A096D}"/>
              </a:ext>
            </a:extLst>
          </p:cNvPr>
          <p:cNvSpPr/>
          <p:nvPr/>
        </p:nvSpPr>
        <p:spPr>
          <a:xfrm>
            <a:off x="527377" y="2633571"/>
            <a:ext cx="782990" cy="3235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06FFE3-1930-19DB-DEDC-3E6305083866}"/>
              </a:ext>
            </a:extLst>
          </p:cNvPr>
          <p:cNvSpPr/>
          <p:nvPr/>
        </p:nvSpPr>
        <p:spPr>
          <a:xfrm>
            <a:off x="3007781" y="2642886"/>
            <a:ext cx="1144896" cy="3348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CACB0E-83A9-BFB2-38C4-052645640BFE}"/>
              </a:ext>
            </a:extLst>
          </p:cNvPr>
          <p:cNvSpPr/>
          <p:nvPr/>
        </p:nvSpPr>
        <p:spPr>
          <a:xfrm>
            <a:off x="6596461" y="2622278"/>
            <a:ext cx="1689682" cy="3348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 &amp; Review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55F1E7D9-2DBC-FD88-5933-01D3FBE29CA7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1708926" y="3523992"/>
            <a:ext cx="1190583" cy="802951"/>
          </a:xfrm>
          <a:prstGeom prst="bentConnector3">
            <a:avLst>
              <a:gd name="adj1" fmla="val 128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1129327-7BD2-E93D-2284-3A26FE1D157C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5400000">
            <a:off x="3040637" y="3536530"/>
            <a:ext cx="269240" cy="809945"/>
          </a:xfrm>
          <a:prstGeom prst="bentConnector3">
            <a:avLst>
              <a:gd name="adj1" fmla="val 309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5C700B4-5457-63DC-A1B2-1B7579561E3B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rot="16200000" flipH="1">
            <a:off x="3928406" y="3458704"/>
            <a:ext cx="269240" cy="965595"/>
          </a:xfrm>
          <a:prstGeom prst="bentConnector3">
            <a:avLst>
              <a:gd name="adj1" fmla="val 309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00A2D0-AA29-3E28-71EF-D039734B7355}"/>
              </a:ext>
            </a:extLst>
          </p:cNvPr>
          <p:cNvCxnSpPr/>
          <p:nvPr/>
        </p:nvCxnSpPr>
        <p:spPr>
          <a:xfrm>
            <a:off x="3082247" y="4706042"/>
            <a:ext cx="0" cy="44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55D777-D69A-2B73-624B-325E460FC548}"/>
              </a:ext>
            </a:extLst>
          </p:cNvPr>
          <p:cNvCxnSpPr>
            <a:cxnSpLocks/>
          </p:cNvCxnSpPr>
          <p:nvPr/>
        </p:nvCxnSpPr>
        <p:spPr>
          <a:xfrm>
            <a:off x="4238688" y="4641903"/>
            <a:ext cx="0" cy="49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50917E-C4B4-F61E-78FA-45B55CC6C500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 flipV="1">
            <a:off x="5226544" y="4358021"/>
            <a:ext cx="224629" cy="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A67D1D9F-F5D4-9C9D-EA80-A887A05CA69F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>
            <a:off x="4260949" y="3523992"/>
            <a:ext cx="1970185" cy="3904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4D538D-A916-65EB-0FF8-36474905215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7011095" y="4358020"/>
            <a:ext cx="2718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Document with solid fill">
            <a:extLst>
              <a:ext uri="{FF2B5EF4-FFF2-40B4-BE49-F238E27FC236}">
                <a16:creationId xmlns:a16="http://schemas.microsoft.com/office/drawing/2014/main" id="{AFB0C6B0-22DC-FEA8-6E28-B2BF6B159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6444" y="4670648"/>
            <a:ext cx="520768" cy="5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1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- Work breakdown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73222"/>
          </a:xfrm>
        </p:spPr>
        <p:txBody>
          <a:bodyPr numCol="2">
            <a:normAutofit fontScale="47500" lnSpcReduction="20000"/>
          </a:bodyPr>
          <a:lstStyle/>
          <a:p>
            <a:endParaRPr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WP1 — Design and Management</a:t>
            </a:r>
          </a:p>
          <a:p>
            <a:pPr lvl="1"/>
            <a:r>
              <a:rPr lang="en-GB" sz="27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</a:t>
            </a:r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Nov 2025 </a:t>
            </a:r>
            <a:r>
              <a:rPr lang="en-GB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 Nov 2025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T1.1 Define Value Proposition</a:t>
            </a:r>
          </a:p>
          <a:p>
            <a:pPr lvl="1"/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T1.2 Set Objectives</a:t>
            </a:r>
            <a:endParaRPr lang="en-GB" sz="42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T1.3 Identify Stakeholders</a:t>
            </a:r>
          </a:p>
          <a:p>
            <a:pPr lvl="1"/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T1.4 Functional Diagram</a:t>
            </a:r>
          </a:p>
          <a:p>
            <a:pPr lvl="1"/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T1.5 Design and Management Plan</a:t>
            </a:r>
          </a:p>
          <a:p>
            <a:pPr lvl="1"/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T1.6 Prepare Checkpoint 1 presentation</a:t>
            </a:r>
          </a:p>
          <a:p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WP2 — </a:t>
            </a:r>
            <a:r>
              <a:rPr lang="en-GB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and Preparation</a:t>
            </a:r>
          </a:p>
          <a:p>
            <a:pPr lvl="1"/>
            <a:r>
              <a:rPr lang="en-GB" sz="27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</a:t>
            </a:r>
            <a:r>
              <a:rPr lang="en-GB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 Nov 2025 </a:t>
            </a:r>
            <a:r>
              <a:rPr lang="en-GB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GB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30 Nov 2025</a:t>
            </a:r>
          </a:p>
          <a:p>
            <a:pPr lvl="1"/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Tasks: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T2.1 Collect historical PR–Offer Excel files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T2.2 Clean and structure data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T2.3 Design PR–Offer database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T2.4 Explore PR text and fields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WP3 — Model Development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Dec 2025 → 10 Dec 2025</a:t>
            </a:r>
          </a:p>
          <a:p>
            <a:pPr lvl="1"/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Tasks: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T3.1 NLP for PR extraction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T3.2 Feature engineering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T3.3 Regression model for function-level effort prediction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T3.4 Similar-case retrieval module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T3.5 Evaluation &amp; refinement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T3.6 Prepare Checkpoint 2 presentation</a:t>
            </a:r>
          </a:p>
          <a:p>
            <a:pPr lvl="1"/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WP4 — Deployment and Delivery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11 Dec 2025 → 7 Jan 2026</a:t>
            </a:r>
          </a:p>
          <a:p>
            <a:pPr lvl="1"/>
            <a:r>
              <a:rPr lang="en-GB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Tasks: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T4.1 Meeting with IVECO for feedback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T4.2 Project Deployment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T4.3 Prepare Checkpoint 3 presentation</a:t>
            </a:r>
          </a:p>
          <a:p>
            <a:pPr lvl="1"/>
            <a:r>
              <a:rPr lang="en-GB" sz="27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T4.4 Final technical report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C731B7A4-8066-1F20-2FC3-503DB74DC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B9B91A-38B3-B69F-17D9-9EE0E83F3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0C85-0601-A168-28FA-2062D808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C8B8-3ACF-9B24-125C-1401C4DD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- Gantt</a:t>
            </a:r>
            <a:endParaRPr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B2DF3B-455D-BD0D-8E9E-0EF821BB0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167966"/>
              </p:ext>
            </p:extLst>
          </p:nvPr>
        </p:nvGraphicFramePr>
        <p:xfrm>
          <a:off x="230184" y="1022643"/>
          <a:ext cx="8680138" cy="4072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950">
                  <a:extLst>
                    <a:ext uri="{9D8B030D-6E8A-4147-A177-3AD203B41FA5}">
                      <a16:colId xmlns:a16="http://schemas.microsoft.com/office/drawing/2014/main" val="2297666931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3897015823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2674719323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205128652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1891224394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3396158710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2441363530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3783890843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3266762209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1327320692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3274124017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75169359"/>
                    </a:ext>
                  </a:extLst>
                </a:gridCol>
                <a:gridCol w="628599">
                  <a:extLst>
                    <a:ext uri="{9D8B030D-6E8A-4147-A177-3AD203B41FA5}">
                      <a16:colId xmlns:a16="http://schemas.microsoft.com/office/drawing/2014/main" val="1749479373"/>
                    </a:ext>
                  </a:extLst>
                </a:gridCol>
              </a:tblGrid>
              <a:tr h="225311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>
                    <a:solidFill>
                      <a:srgbClr val="E28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>
                    <a:solidFill>
                      <a:srgbClr val="E28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>
                    <a:solidFill>
                      <a:srgbClr val="E28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220965"/>
                  </a:ext>
                </a:extLst>
              </a:tr>
              <a:tr h="225311"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W3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39746"/>
                  </a:ext>
                </a:extLst>
              </a:tr>
              <a:tr h="225311">
                <a:tc gridSpan="1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Management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14796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156449"/>
                  </a:ext>
                </a:extLst>
              </a:tr>
              <a:tr h="225311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644924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76176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Preparation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323293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41316"/>
                  </a:ext>
                </a:extLst>
              </a:tr>
              <a:tr h="225311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323828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Development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898493"/>
                  </a:ext>
                </a:extLst>
              </a:tr>
              <a:tr h="327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Selection and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41610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57680"/>
                  </a:ext>
                </a:extLst>
              </a:tr>
              <a:tr h="22531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Communication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017674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Meetings with Iveco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75346"/>
                  </a:ext>
                </a:extLst>
              </a:tr>
              <a:tr h="327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688472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9304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295512-82E1-8496-358D-A1D48DA2D61D}"/>
              </a:ext>
            </a:extLst>
          </p:cNvPr>
          <p:cNvSpPr txBox="1"/>
          <p:nvPr/>
        </p:nvSpPr>
        <p:spPr>
          <a:xfrm>
            <a:off x="1330960" y="536621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2569D-4084-5F47-1204-B220AFCAF55C}"/>
              </a:ext>
            </a:extLst>
          </p:cNvPr>
          <p:cNvSpPr/>
          <p:nvPr/>
        </p:nvSpPr>
        <p:spPr>
          <a:xfrm>
            <a:off x="230184" y="5366211"/>
            <a:ext cx="1066800" cy="369332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EDA610-B08E-5FDB-3AC5-84D992DAE57B}"/>
              </a:ext>
            </a:extLst>
          </p:cNvPr>
          <p:cNvCxnSpPr/>
          <p:nvPr/>
        </p:nvCxnSpPr>
        <p:spPr>
          <a:xfrm>
            <a:off x="3596640" y="1270000"/>
            <a:ext cx="0" cy="409621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3730094-A1F0-1D6C-3694-C331C6F77CE7}"/>
              </a:ext>
            </a:extLst>
          </p:cNvPr>
          <p:cNvSpPr txBox="1"/>
          <p:nvPr/>
        </p:nvSpPr>
        <p:spPr>
          <a:xfrm>
            <a:off x="3153249" y="5413513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CP1</a:t>
            </a:r>
          </a:p>
          <a:p>
            <a:pPr algn="ctr"/>
            <a:r>
              <a:rPr lang="en-US" sz="1000" dirty="0">
                <a:solidFill>
                  <a:schemeClr val="tx2"/>
                </a:solidFill>
              </a:rPr>
              <a:t>(19/11/2025)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7FC50D-1665-CA11-8842-FF8CD91C717C}"/>
              </a:ext>
            </a:extLst>
          </p:cNvPr>
          <p:cNvSpPr txBox="1"/>
          <p:nvPr/>
        </p:nvSpPr>
        <p:spPr>
          <a:xfrm>
            <a:off x="5032849" y="5366211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CP2</a:t>
            </a:r>
          </a:p>
          <a:p>
            <a:pPr algn="ctr"/>
            <a:r>
              <a:rPr lang="en-US" sz="1000" dirty="0">
                <a:solidFill>
                  <a:schemeClr val="tx2"/>
                </a:solidFill>
              </a:rPr>
              <a:t>(10/12/2025)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8A4D54-06A4-C057-5721-A843D7B0FDC0}"/>
              </a:ext>
            </a:extLst>
          </p:cNvPr>
          <p:cNvSpPr txBox="1"/>
          <p:nvPr/>
        </p:nvSpPr>
        <p:spPr>
          <a:xfrm>
            <a:off x="7207876" y="5318983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CP3</a:t>
            </a:r>
          </a:p>
          <a:p>
            <a:pPr algn="ctr"/>
            <a:r>
              <a:rPr lang="en-US" sz="1000" dirty="0">
                <a:solidFill>
                  <a:schemeClr val="tx2"/>
                </a:solidFill>
              </a:rPr>
              <a:t>(07/01/2026)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36218B-3A14-E218-0FFB-B38954B167B5}"/>
              </a:ext>
            </a:extLst>
          </p:cNvPr>
          <p:cNvCxnSpPr/>
          <p:nvPr/>
        </p:nvCxnSpPr>
        <p:spPr>
          <a:xfrm>
            <a:off x="5476240" y="1270000"/>
            <a:ext cx="0" cy="409621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5A89A0-6FDF-3E4D-59AF-5C666799363C}"/>
              </a:ext>
            </a:extLst>
          </p:cNvPr>
          <p:cNvCxnSpPr/>
          <p:nvPr/>
        </p:nvCxnSpPr>
        <p:spPr>
          <a:xfrm>
            <a:off x="7651267" y="1270000"/>
            <a:ext cx="0" cy="4096211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 descr="A black and blue logo&#10;&#10;AI-generated content may be incorrect.">
            <a:extLst>
              <a:ext uri="{FF2B5EF4-FFF2-40B4-BE49-F238E27FC236}">
                <a16:creationId xmlns:a16="http://schemas.microsoft.com/office/drawing/2014/main" id="{3E31E551-2577-7B6D-16A8-09794F4F0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23" b="29845"/>
          <a:stretch>
            <a:fillRect/>
          </a:stretch>
        </p:blipFill>
        <p:spPr>
          <a:xfrm>
            <a:off x="7686703" y="6086777"/>
            <a:ext cx="1198880" cy="5099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4D4DDC-C86B-C3EA-9E29-2A87A9584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5" y="5974995"/>
            <a:ext cx="1659835" cy="7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73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6B085B-F624-72F2-03E5-26666672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0BC7D394-1ACF-9328-69EE-7E3067A01925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28305400-44A8-134B-EB67-3DF29798FB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8D3A08D4-2146-0AAA-875B-E7861BE0CB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4813" y="4229813"/>
              <a:ext cx="2647390" cy="567535"/>
            </a:xfrm>
            <a:prstGeom prst="rect">
              <a:avLst/>
            </a:prstGeom>
          </p:spPr>
        </p:pic>
      </p:grpSp>
      <p:sp>
        <p:nvSpPr>
          <p:cNvPr id="10" name="object 5">
            <a:extLst>
              <a:ext uri="{FF2B5EF4-FFF2-40B4-BE49-F238E27FC236}">
                <a16:creationId xmlns:a16="http://schemas.microsoft.com/office/drawing/2014/main" id="{A0E84EFD-78C0-3BED-8157-EA26C939D001}"/>
              </a:ext>
            </a:extLst>
          </p:cNvPr>
          <p:cNvSpPr txBox="1">
            <a:spLocks/>
          </p:cNvSpPr>
          <p:nvPr/>
        </p:nvSpPr>
        <p:spPr>
          <a:xfrm>
            <a:off x="5303852" y="3010587"/>
            <a:ext cx="3498351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800" spc="-2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US" sz="4800" spc="-3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spc="-1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</TotalTime>
  <Words>999</Words>
  <Application>Microsoft Macintosh PowerPoint</Application>
  <PresentationFormat>On-screen Show (4:3)</PresentationFormat>
  <Paragraphs>222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AI-Based Ballpark Quotation Tool</vt:lpstr>
      <vt:lpstr>Table of Contents</vt:lpstr>
      <vt:lpstr>IVECO Group</vt:lpstr>
      <vt:lpstr>Problem Statement</vt:lpstr>
      <vt:lpstr>The Solution: AI-Based Ballpark Quotation Tool</vt:lpstr>
      <vt:lpstr>Value Proposition</vt:lpstr>
      <vt:lpstr>Sustainable Development Goal</vt:lpstr>
      <vt:lpstr>Project Objectives &amp; Roadmap</vt:lpstr>
      <vt:lpstr>Stakeholders Map</vt:lpstr>
      <vt:lpstr>User Persona</vt:lpstr>
      <vt:lpstr>User Journey</vt:lpstr>
      <vt:lpstr>User Requirement</vt:lpstr>
      <vt:lpstr>Functional Diagram</vt:lpstr>
      <vt:lpstr>Manage - Work breakdown structure</vt:lpstr>
      <vt:lpstr>Manage - Gantt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TEMUR KUCHKOROV</cp:lastModifiedBy>
  <cp:revision>18</cp:revision>
  <dcterms:created xsi:type="dcterms:W3CDTF">2013-01-27T09:14:16Z</dcterms:created>
  <dcterms:modified xsi:type="dcterms:W3CDTF">2025-11-19T06:54:13Z</dcterms:modified>
  <cp:category/>
</cp:coreProperties>
</file>